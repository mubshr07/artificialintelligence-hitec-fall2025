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49"/>
  </p:notesMasterIdLst>
  <p:sldIdLst>
    <p:sldId id="1348" r:id="rId2"/>
    <p:sldId id="258" r:id="rId3"/>
    <p:sldId id="1350" r:id="rId4"/>
    <p:sldId id="1349" r:id="rId5"/>
    <p:sldId id="1351" r:id="rId6"/>
    <p:sldId id="1352" r:id="rId7"/>
    <p:sldId id="1353" r:id="rId8"/>
    <p:sldId id="261" r:id="rId9"/>
    <p:sldId id="265" r:id="rId10"/>
    <p:sldId id="1357" r:id="rId11"/>
    <p:sldId id="1354" r:id="rId12"/>
    <p:sldId id="1358" r:id="rId13"/>
    <p:sldId id="266" r:id="rId14"/>
    <p:sldId id="1359" r:id="rId15"/>
    <p:sldId id="1355" r:id="rId16"/>
    <p:sldId id="1356" r:id="rId17"/>
    <p:sldId id="1360" r:id="rId18"/>
    <p:sldId id="1361" r:id="rId19"/>
    <p:sldId id="1362" r:id="rId20"/>
    <p:sldId id="1363" r:id="rId21"/>
    <p:sldId id="1365" r:id="rId22"/>
    <p:sldId id="1366" r:id="rId23"/>
    <p:sldId id="1367" r:id="rId24"/>
    <p:sldId id="1368" r:id="rId25"/>
    <p:sldId id="1369" r:id="rId26"/>
    <p:sldId id="1370" r:id="rId27"/>
    <p:sldId id="1371" r:id="rId28"/>
    <p:sldId id="1373" r:id="rId29"/>
    <p:sldId id="1372" r:id="rId30"/>
    <p:sldId id="1374" r:id="rId31"/>
    <p:sldId id="1375" r:id="rId32"/>
    <p:sldId id="1376" r:id="rId33"/>
    <p:sldId id="1379" r:id="rId34"/>
    <p:sldId id="1380" r:id="rId35"/>
    <p:sldId id="1378" r:id="rId36"/>
    <p:sldId id="1377" r:id="rId37"/>
    <p:sldId id="285" r:id="rId38"/>
    <p:sldId id="1381" r:id="rId39"/>
    <p:sldId id="1382" r:id="rId40"/>
    <p:sldId id="1383" r:id="rId41"/>
    <p:sldId id="1384" r:id="rId42"/>
    <p:sldId id="1385" r:id="rId43"/>
    <p:sldId id="1386" r:id="rId44"/>
    <p:sldId id="1387" r:id="rId45"/>
    <p:sldId id="1388" r:id="rId46"/>
    <p:sldId id="1389" r:id="rId47"/>
    <p:sldId id="1390" r:id="rId4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5410" autoAdjust="0"/>
  </p:normalViewPr>
  <p:slideViewPr>
    <p:cSldViewPr>
      <p:cViewPr varScale="1">
        <p:scale>
          <a:sx n="54" d="100"/>
          <a:sy n="54" d="100"/>
        </p:scale>
        <p:origin x="189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A12C0-3B5E-4B9E-9564-FD70B754D81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6C049-4B9C-4CAE-B600-1CACBDEB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4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11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"If </a:t>
            </a:r>
            <a:r>
              <a:rPr lang="en-US" b="1" dirty="0"/>
              <a:t>P</a:t>
            </a:r>
            <a:r>
              <a:rPr lang="en-US" dirty="0"/>
              <a:t> is true, then </a:t>
            </a:r>
            <a:r>
              <a:rPr lang="en-US" b="1" dirty="0"/>
              <a:t>Q</a:t>
            </a:r>
            <a:r>
              <a:rPr lang="en-US" dirty="0"/>
              <a:t> must also be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7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-&gt; implies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9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r>
              <a:rPr lang="en-US" dirty="0"/>
              <a:t>Implication (→)</a:t>
            </a:r>
          </a:p>
          <a:p>
            <a:pPr marL="228600" indent="-228600">
              <a:buAutoNum type="alphaLcParenR"/>
            </a:pPr>
            <a:r>
              <a:rPr lang="en-US" dirty="0"/>
              <a:t>AND (∧)</a:t>
            </a:r>
          </a:p>
          <a:p>
            <a:pPr marL="0" indent="0">
              <a:buNone/>
            </a:pPr>
            <a:r>
              <a:rPr lang="en-US" dirty="0"/>
              <a:t>2, a) </a:t>
            </a:r>
            <a:r>
              <a:rPr lang="en-US" b="1" dirty="0"/>
              <a:t>S → P</a:t>
            </a:r>
          </a:p>
          <a:p>
            <a:pPr marL="0" indent="0">
              <a:buNone/>
            </a:pPr>
            <a:r>
              <a:rPr lang="en-US" b="1" dirty="0"/>
              <a:t>b) R ∨ N</a:t>
            </a:r>
          </a:p>
          <a:p>
            <a:pPr marL="0" indent="0">
              <a:buNone/>
            </a:pPr>
            <a:r>
              <a:rPr lang="en-US" b="1" dirty="0"/>
              <a:t>c) D ↔ 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48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-dem-po-</a:t>
            </a:r>
            <a:r>
              <a:rPr lang="en-US" dirty="0" err="1"/>
              <a:t>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6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Mo-</a:t>
            </a:r>
            <a:r>
              <a:rPr lang="en-US" dirty="0" err="1"/>
              <a:t>dus</a:t>
            </a:r>
            <a:r>
              <a:rPr lang="en-US" dirty="0"/>
              <a:t> po-</a:t>
            </a:r>
            <a:r>
              <a:rPr lang="en-US" dirty="0" err="1"/>
              <a:t>nens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54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36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Cannot handle degrees of truth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"Ali is probably a student."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"Ali might be a good student."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require probabilistic or fuzzy logic.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31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-it states a specific fact rather than a rule that applies to multiple instances.</a:t>
            </a:r>
          </a:p>
          <a:p>
            <a:r>
              <a:rPr lang="en-US" dirty="0"/>
              <a:t>-fixed facts at a given moment and cannot express dynamic, time-dependent changes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62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Objects:</a:t>
            </a:r>
            <a:r>
              <a:rPr lang="en-US" dirty="0"/>
              <a:t> Entities in the domain of discourse that the logic reasons about (e.g., people, places, things).</a:t>
            </a:r>
          </a:p>
          <a:p>
            <a:r>
              <a:rPr lang="en-US" b="1" dirty="0"/>
              <a:t>Properties of objects (Predicates):</a:t>
            </a:r>
            <a:r>
              <a:rPr lang="en-US" dirty="0"/>
              <a:t> Characteristics or attributes that describe objects (e.g., </a:t>
            </a:r>
            <a:r>
              <a:rPr lang="en-US" i="1" dirty="0" err="1"/>
              <a:t>isTall</a:t>
            </a:r>
            <a:r>
              <a:rPr lang="en-US" i="1" dirty="0"/>
              <a:t>(Ali)</a:t>
            </a:r>
            <a:r>
              <a:rPr lang="en-US" dirty="0"/>
              <a:t>).</a:t>
            </a:r>
          </a:p>
          <a:p>
            <a:r>
              <a:rPr lang="en-US" b="1" dirty="0"/>
              <a:t>Relationships between objects:</a:t>
            </a:r>
            <a:r>
              <a:rPr lang="en-US" dirty="0"/>
              <a:t> Associations between two or more objects represented using predicates (e.g., </a:t>
            </a:r>
            <a:r>
              <a:rPr lang="en-US" i="1" dirty="0"/>
              <a:t>Loves(Ali, Sara)</a:t>
            </a:r>
            <a:r>
              <a:rPr lang="en-US" dirty="0"/>
              <a:t>).</a:t>
            </a:r>
          </a:p>
          <a:p>
            <a:r>
              <a:rPr lang="en-US" b="1" dirty="0"/>
              <a:t>Quantified statements like "all", "some":</a:t>
            </a:r>
            <a:r>
              <a:rPr lang="en-US" dirty="0"/>
              <a:t> Logical statements that express generality or existence over objects in the domain using quantifiers like ∀ (for all) and ∃ (there exists).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43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Relations may have multiple possible matches (or none).</a:t>
            </a:r>
          </a:p>
          <a:p>
            <a:r>
              <a:rPr lang="en-US" dirty="0"/>
              <a:t>One input → Multiple outputs possible</a:t>
            </a:r>
            <a:endParaRPr lang="en-US" b="1" dirty="0"/>
          </a:p>
          <a:p>
            <a:r>
              <a:rPr lang="en-US" dirty="0" err="1"/>
              <a:t>BrotherOf</a:t>
            </a:r>
            <a:r>
              <a:rPr lang="en-US" dirty="0"/>
              <a:t>(Ali, Zain) → returns True if Ali is Zain's brother</a:t>
            </a:r>
            <a:endParaRPr lang="en-US" b="1" dirty="0"/>
          </a:p>
          <a:p>
            <a:r>
              <a:rPr lang="en-US" b="1" dirty="0"/>
              <a:t>Functions must return exactly one unique result.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FatherOf</a:t>
            </a:r>
            <a:r>
              <a:rPr lang="en-US" dirty="0"/>
              <a:t>(John) → returns David (a single object)</a:t>
            </a:r>
          </a:p>
          <a:p>
            <a:r>
              <a:rPr lang="en-US" dirty="0"/>
              <a:t>One input → One output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34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7795-9C5B-4BC1-EFC4-5B407627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D8620-6EE2-A923-B220-C8DC7BCF4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8964F-24DE-AD1A-0313-DDF5BDE39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64ED-3B5D-8D25-7F43-2F6A32401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45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2E9A-E4D9-A73C-3B80-2C343C89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34E3D-205A-BE6B-4AB8-1CFED962B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41422-9FEA-B3C7-3AC7-7AE106B22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11B15-1019-1B6C-433B-7A2AA971B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B4F50-2357-69E1-4DBF-744FA632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18E14-4638-A1A3-1CFD-3F6637FE5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CFAC0-B5A4-C8E7-DBA8-8C9869992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Conjunction: Both statements must be true for the whole statement to be true.</a:t>
            </a:r>
            <a:br>
              <a:rPr lang="en-US" dirty="0"/>
            </a:br>
            <a:r>
              <a:rPr lang="en-US" b="1" dirty="0"/>
              <a:t>Example: </a:t>
            </a:r>
            <a:r>
              <a:rPr lang="en-US" dirty="0"/>
              <a:t>Let P(x) = x is a student, and Q(x) = x is punctual.  </a:t>
            </a:r>
            <a:r>
              <a:rPr lang="en-US" b="1" dirty="0"/>
              <a:t>P(x) ∧ Q(x):</a:t>
            </a:r>
            <a:r>
              <a:rPr lang="en-US" dirty="0"/>
              <a:t> "x is a student AND x is punctual"</a:t>
            </a:r>
          </a:p>
          <a:p>
            <a:r>
              <a:rPr lang="en-US" dirty="0"/>
              <a:t>If x is </a:t>
            </a:r>
            <a:r>
              <a:rPr lang="en-US" b="1" dirty="0"/>
              <a:t>both</a:t>
            </a:r>
            <a:r>
              <a:rPr lang="en-US" dirty="0"/>
              <a:t>, the statement is true. If either is false, the whole is false.</a:t>
            </a:r>
          </a:p>
          <a:p>
            <a:endParaRPr lang="en-US" dirty="0"/>
          </a:p>
          <a:p>
            <a:pPr>
              <a:buNone/>
            </a:pPr>
            <a:r>
              <a:rPr lang="en-US" dirty="0" err="1"/>
              <a:t>Disjunciton</a:t>
            </a:r>
            <a:r>
              <a:rPr lang="en-US" dirty="0"/>
              <a:t>: True if </a:t>
            </a:r>
            <a:r>
              <a:rPr lang="en-US" b="1" dirty="0"/>
              <a:t>at least one</a:t>
            </a:r>
            <a:r>
              <a:rPr lang="en-US" dirty="0"/>
              <a:t> of the statements is true.</a:t>
            </a:r>
            <a:br>
              <a:rPr lang="en-US" dirty="0"/>
            </a:br>
            <a:r>
              <a:rPr lang="en-US" b="1" dirty="0"/>
              <a:t>Example: </a:t>
            </a:r>
            <a:r>
              <a:rPr lang="en-US" dirty="0"/>
              <a:t>P(x) ∨ Q(x) = "x is a student OR x is punctual“.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Implicaiton</a:t>
            </a:r>
            <a:r>
              <a:rPr lang="en-US" dirty="0"/>
              <a:t>: P(x) → Q(x) = "If x studies, then x will pass“ (statement is only about if x studies then…, there is no implication of if x does not study)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50A0E-880D-F04E-4BEB-57994C382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42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69A7-5CE9-09E7-83A8-3329E67FC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E7C7-0643-C87A-2BC4-C152F0AF3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12F30-90EB-C795-1BF6-C81AE946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∀ (for all)</a:t>
            </a:r>
          </a:p>
          <a:p>
            <a:pPr>
              <a:buNone/>
            </a:pPr>
            <a:r>
              <a:rPr lang="en-US" dirty="0"/>
              <a:t>“Every citizen pays taxes.” → ∀x (Citizen(x) → </a:t>
            </a:r>
            <a:r>
              <a:rPr lang="en-US" dirty="0" err="1"/>
              <a:t>PaysTaxes</a:t>
            </a:r>
            <a:r>
              <a:rPr lang="en-US" dirty="0"/>
              <a:t>(x))</a:t>
            </a:r>
          </a:p>
          <a:p>
            <a:pPr>
              <a:buNone/>
            </a:pPr>
            <a:r>
              <a:rPr lang="en-US" dirty="0"/>
              <a:t> ∃ (there exists).</a:t>
            </a:r>
          </a:p>
          <a:p>
            <a:pPr>
              <a:buNone/>
            </a:pPr>
            <a:r>
              <a:rPr lang="en-US" dirty="0"/>
              <a:t>“There is a person who knows AI.” → ∃x (Person(x) ∧ Knows(x, AI))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29566-2C19-FF54-F9B2-7512CCF52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85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E9DA-71BC-C338-2230-42337F14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E51F8-96C7-4190-DAB0-D3C2DDB03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731FF-EFE7-4791-07EA-0C75A10BB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Universe of Discourse</a:t>
            </a:r>
            <a:r>
              <a:rPr lang="en-US" dirty="0"/>
              <a:t> is the </a:t>
            </a:r>
            <a:r>
              <a:rPr lang="en-US" b="1" dirty="0"/>
              <a:t>set of all possible objects or entities</a:t>
            </a:r>
            <a:r>
              <a:rPr lang="en-US" dirty="0"/>
              <a:t> that a variable (like x) can refer to in a logical statement.</a:t>
            </a:r>
          </a:p>
          <a:p>
            <a:pPr>
              <a:buNone/>
            </a:pPr>
            <a:r>
              <a:rPr lang="en-US" b="1" dirty="0"/>
              <a:t>x</a:t>
            </a:r>
            <a:r>
              <a:rPr lang="en-US" dirty="0"/>
              <a:t> is a variable.</a:t>
            </a:r>
          </a:p>
          <a:p>
            <a:pPr>
              <a:buNone/>
            </a:pPr>
            <a:r>
              <a:rPr lang="en-US" b="1" dirty="0" err="1"/>
              <a:t>UoD</a:t>
            </a:r>
            <a:r>
              <a:rPr lang="en-US" b="1" dirty="0"/>
              <a:t> = all people (or all students, or all humans)</a:t>
            </a:r>
            <a:r>
              <a:rPr lang="en-US" dirty="0"/>
              <a:t> — depending on what you're talking about.</a:t>
            </a:r>
          </a:p>
          <a:p>
            <a:r>
              <a:rPr lang="en-US" dirty="0"/>
              <a:t>The statement means:</a:t>
            </a:r>
            <a:br>
              <a:rPr lang="en-US" dirty="0"/>
            </a:br>
            <a:r>
              <a:rPr lang="en-US" dirty="0"/>
              <a:t>→ For </a:t>
            </a:r>
            <a:r>
              <a:rPr lang="en-US" b="1" dirty="0"/>
              <a:t>every x</a:t>
            </a:r>
            <a:r>
              <a:rPr lang="en-US" dirty="0"/>
              <a:t> in the </a:t>
            </a:r>
            <a:r>
              <a:rPr lang="en-US" b="1" dirty="0" err="1"/>
              <a:t>UoD</a:t>
            </a:r>
            <a:r>
              <a:rPr lang="en-US" dirty="0"/>
              <a:t>, if x is a boy, then x likes football.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92761-F55A-52F4-3261-80288BC7B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59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28E0E-17DA-020B-7ED3-9DBE3D23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02FBE-F537-B84F-4A55-9D849A4AC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E40C5-63AA-8A60-DEA8-CB1D69713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∃ (there exists).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0916C-79A7-F9E8-E5FC-C963CE503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05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CA6E-7883-A20D-0634-6349F826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FD03C-F50F-726F-70AA-750D802C9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B7205-6E7F-CEA0-0F15-650041876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7EE67-5BD1-FE31-23C0-0FF39CAE5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31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CBCA-E91C-48E0-19C1-E50AD77B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A8A66-1F57-833D-3248-C1EDB04BA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07202-326E-53C5-A83B-5322E8498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B4E7F-C0F6-6187-EFCF-ED12D71CB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46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217B-2115-A190-9EF5-35AF4984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FC991-AC1B-05C5-4D96-68443DDAB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1E21C-9765-9E48-AD5E-CF23A6CD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Here, x must be </a:t>
            </a:r>
            <a:r>
              <a:rPr lang="en-US" b="1" dirty="0"/>
              <a:t>equal to both</a:t>
            </a:r>
            <a:r>
              <a:rPr lang="en-US" dirty="0"/>
              <a:t> John </a:t>
            </a:r>
            <a:r>
              <a:rPr lang="en-US" b="1" dirty="0"/>
              <a:t>and</a:t>
            </a:r>
            <a:r>
              <a:rPr lang="en-US" dirty="0"/>
              <a:t> Mary, which is not possible (unless John = Mary, which we don't assume). So unification </a:t>
            </a:r>
            <a:r>
              <a:rPr lang="en-US" b="1" dirty="0"/>
              <a:t>fails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C23EA-8B88-EE20-E4EB-E3F2C42B8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11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A8EC-35F6-FF9E-A0EC-19052B80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367C7-26B6-0250-A158-857C1022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C8F2D-0F29-DD00-37F3-347FEF81B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Here, x must be </a:t>
            </a:r>
            <a:r>
              <a:rPr lang="en-US" b="1" dirty="0"/>
              <a:t>equal to both</a:t>
            </a:r>
            <a:r>
              <a:rPr lang="en-US" dirty="0"/>
              <a:t> John </a:t>
            </a:r>
            <a:r>
              <a:rPr lang="en-US" b="1" dirty="0"/>
              <a:t>and</a:t>
            </a:r>
            <a:r>
              <a:rPr lang="en-US" dirty="0"/>
              <a:t> Mary, which is not possible (unless John = Mary, which we don't assume). So unification </a:t>
            </a:r>
            <a:r>
              <a:rPr lang="en-US" b="1" dirty="0"/>
              <a:t>fails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A91-E98D-804C-EEB1-FEEC3D823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74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19F6-772E-3800-0D85-1A81C6D2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6A0A7-16D5-489F-1813-4B191D22E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22AC-9970-9FDE-A524-2A62222D8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Here, x must be </a:t>
            </a:r>
            <a:r>
              <a:rPr lang="en-US" b="1" dirty="0"/>
              <a:t>equal to both</a:t>
            </a:r>
            <a:r>
              <a:rPr lang="en-US" dirty="0"/>
              <a:t> John </a:t>
            </a:r>
            <a:r>
              <a:rPr lang="en-US" b="1" dirty="0"/>
              <a:t>and</a:t>
            </a:r>
            <a:r>
              <a:rPr lang="en-US" dirty="0"/>
              <a:t> Mary, which is not possible (unless John = Mary, which we don't assume). So unification </a:t>
            </a:r>
            <a:r>
              <a:rPr lang="en-US" b="1" dirty="0"/>
              <a:t>fails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D128D-1AFC-FFD4-B42C-C9AFA3FB4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83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75A1-5924-6F98-5D2C-4C150D6C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F865A-6F98-5B66-7E78-7139EBEF7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E8F1B-F57A-B1F3-2F1C-0AC5E312D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Here, x must be </a:t>
            </a:r>
            <a:r>
              <a:rPr lang="en-US" b="1" dirty="0"/>
              <a:t>equal to both</a:t>
            </a:r>
            <a:r>
              <a:rPr lang="en-US" dirty="0"/>
              <a:t> John </a:t>
            </a:r>
            <a:r>
              <a:rPr lang="en-US" b="1" dirty="0"/>
              <a:t>and</a:t>
            </a:r>
            <a:r>
              <a:rPr lang="en-US" dirty="0"/>
              <a:t> Mary, which is not possible (unless John = Mary, which we don't assume). So unification </a:t>
            </a:r>
            <a:r>
              <a:rPr lang="en-US" b="1" dirty="0"/>
              <a:t>fails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200AD-B3B7-857E-7E95-B3DC2CF44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38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5DE2-16E5-11C7-0FB6-6B753820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08B16-DFFB-7336-6035-27E99ACBD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6E9C3-0D63-9B47-6469-4B404D66C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Here, x must be </a:t>
            </a:r>
            <a:r>
              <a:rPr lang="en-US" b="1" dirty="0"/>
              <a:t>equal to both</a:t>
            </a:r>
            <a:r>
              <a:rPr lang="en-US" dirty="0"/>
              <a:t> John </a:t>
            </a:r>
            <a:r>
              <a:rPr lang="en-US" b="1" dirty="0"/>
              <a:t>and</a:t>
            </a:r>
            <a:r>
              <a:rPr lang="en-US" dirty="0"/>
              <a:t> Mary, which is not possible (unless John = Mary, which we don't assume). So unification </a:t>
            </a:r>
            <a:r>
              <a:rPr lang="en-US" b="1" dirty="0"/>
              <a:t>fails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8B132-AA6B-D39D-BA29-E704666B4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9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679D-100E-55D7-2C11-A6C460CD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FF72-04B8-CF64-2926-146F70B6E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5ADBD-BBBD-C2BA-8268-72F95A7DA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We never replace constants.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Constants like b, 5, or Ali are fixed — they represent actual values.</a:t>
            </a:r>
          </a:p>
          <a:p>
            <a:pPr>
              <a:buNone/>
            </a:pPr>
            <a:r>
              <a:rPr lang="en-US" b="1" dirty="0"/>
              <a:t>We only replace variables</a:t>
            </a:r>
            <a:r>
              <a:rPr lang="en-US" dirty="0"/>
              <a:t> to match structures.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 are like placeholders (X, Y, Z) that can be substituted.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goal is to find a substitution</a:t>
            </a:r>
            <a:r>
              <a:rPr lang="en-US" dirty="0"/>
              <a:t> that </a:t>
            </a:r>
            <a:r>
              <a:rPr lang="en-US" b="1" dirty="0"/>
              <a:t>makes two expressions identical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MGU=Most general unifier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EF337-8101-0FE1-41A0-2812E3E88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6C049-4B9C-4CAE-B600-1CACBDEBF0B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47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CLIPS</a:t>
            </a:r>
            <a:r>
              <a:rPr lang="en-US" dirty="0"/>
              <a:t> stands for:</a:t>
            </a:r>
          </a:p>
          <a:p>
            <a:pPr>
              <a:buNone/>
            </a:pPr>
            <a:r>
              <a:rPr lang="en-US" b="1" dirty="0"/>
              <a:t>C</a:t>
            </a:r>
            <a:r>
              <a:rPr lang="en-US" dirty="0"/>
              <a:t> Language </a:t>
            </a:r>
            <a:r>
              <a:rPr lang="en-US" b="1" dirty="0"/>
              <a:t>I</a:t>
            </a:r>
            <a:r>
              <a:rPr lang="en-US" dirty="0"/>
              <a:t>ntegrated </a:t>
            </a:r>
            <a:r>
              <a:rPr lang="en-US" b="1" dirty="0"/>
              <a:t>P</a:t>
            </a:r>
            <a:r>
              <a:rPr lang="en-US" dirty="0"/>
              <a:t>roduction </a:t>
            </a:r>
            <a:r>
              <a:rPr lang="en-US" b="1" dirty="0"/>
              <a:t>S</a:t>
            </a:r>
            <a:r>
              <a:rPr lang="en-US" dirty="0"/>
              <a:t>ystem</a:t>
            </a:r>
          </a:p>
          <a:p>
            <a:r>
              <a:rPr lang="en-US" dirty="0"/>
              <a:t>It is a </a:t>
            </a:r>
            <a:r>
              <a:rPr lang="en-US" b="1" dirty="0"/>
              <a:t>public domain expert system tool</a:t>
            </a:r>
            <a:r>
              <a:rPr lang="en-US" dirty="0"/>
              <a:t> developed by NASA.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D1B94-E0CC-4424-906A-2763AD53993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928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[Start]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[Fact 1?]</a:t>
            </a:r>
            <a:r>
              <a:rPr lang="en-US" dirty="0">
                <a:sym typeface="Wingdings" panose="05000000000000000000" pitchFamily="2" charset="2"/>
              </a:rPr>
              <a:t>Yes -&gt;</a:t>
            </a:r>
            <a:r>
              <a:rPr lang="en-US" dirty="0"/>
              <a:t> [Fact 2?] </a:t>
            </a:r>
            <a:r>
              <a:rPr lang="en-US" dirty="0">
                <a:sym typeface="Wingdings" panose="05000000000000000000" pitchFamily="2" charset="2"/>
              </a:rPr>
              <a:t> Yes  </a:t>
            </a:r>
            <a:r>
              <a:rPr lang="en-US" dirty="0"/>
              <a:t>[Rule 1:Possible Flu]  </a:t>
            </a:r>
            <a:r>
              <a:rPr lang="en-US" dirty="0">
                <a:sym typeface="Wingdings" panose="05000000000000000000" pitchFamily="2" charset="2"/>
              </a:rPr>
              <a:t> [Rule 2?] </a:t>
            </a:r>
            <a:r>
              <a:rPr lang="en-US" dirty="0"/>
              <a:t>Yes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[Possible Pneumonia]</a:t>
            </a:r>
          </a:p>
          <a:p>
            <a:r>
              <a:rPr lang="en-US" dirty="0"/>
              <a:t>	|   	 |    	       		           |			</a:t>
            </a:r>
          </a:p>
          <a:p>
            <a:r>
              <a:rPr lang="en-US" dirty="0"/>
              <a:t>             No -&gt; [End:]  	 No──&gt; [End]			     No</a:t>
            </a:r>
            <a:r>
              <a:rPr lang="en-US" dirty="0">
                <a:sym typeface="Wingdings" panose="05000000000000000000" pitchFamily="2" charset="2"/>
              </a:rPr>
              <a:t> [</a:t>
            </a:r>
            <a:r>
              <a:rPr lang="en-US" dirty="0"/>
              <a:t>Mild Flu</a:t>
            </a:r>
            <a:r>
              <a:rPr lang="en-US" dirty="0">
                <a:sym typeface="Wingdings" panose="05000000000000000000" pitchFamily="2" charset="2"/>
              </a:rPr>
              <a:t>]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D1B94-E0CC-4424-906A-2763AD53993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93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D1B94-E0CC-4424-906A-2763AD53993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504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[Start Goal: Possible Pneumonia]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[Is there a Rule to deduce Possible Pneumonia?]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[Check Rule R2:]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[Is Shortness of Breath true?]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Yes</a:t>
            </a:r>
            <a:r>
              <a:rPr lang="en-US" dirty="0"/>
              <a:t> [Is Possible Flu true?]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Yes </a:t>
            </a:r>
            <a:r>
              <a:rPr lang="en-US" dirty="0">
                <a:sym typeface="Wingdings" panose="05000000000000000000" pitchFamily="2" charset="2"/>
              </a:rPr>
              <a:t>[</a:t>
            </a:r>
            <a:r>
              <a:rPr lang="en-US" dirty="0"/>
              <a:t>Check Rule R1</a:t>
            </a:r>
            <a:r>
              <a:rPr lang="en-US" dirty="0">
                <a:sym typeface="Wingdings" panose="05000000000000000000" pitchFamily="2" charset="2"/>
              </a:rPr>
              <a:t>]</a:t>
            </a:r>
            <a:endParaRPr lang="en-US" dirty="0"/>
          </a:p>
          <a:p>
            <a:endParaRPr lang="en-US" dirty="0"/>
          </a:p>
          <a:p>
            <a:r>
              <a:rPr lang="en-US" dirty="0"/>
              <a:t>[Is High Fever true?]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Yes</a:t>
            </a:r>
            <a:r>
              <a:rPr lang="en-US" dirty="0"/>
              <a:t> [Is Cough true?]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[Possible Flu confirmed]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[Possible Pneumonia confirmed]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[Diagnosis Complete]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D1B94-E0CC-4424-906A-2763AD53993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5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02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9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21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6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2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2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64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47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23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roposition-logic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FBB8-680E-8475-FEDF-027096FC8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325" y="3429000"/>
            <a:ext cx="7543800" cy="8953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50" b="1" dirty="0" smtClean="0"/>
              <a:t>CS-312 </a:t>
            </a:r>
            <a:r>
              <a:rPr lang="en-US" sz="4950" b="1" dirty="0"/>
              <a:t>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5012E-5F36-13FD-F2C5-4C4D0A2F8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dirty="0"/>
              <a:t>Week </a:t>
            </a:r>
            <a:r>
              <a:rPr lang="en-US" dirty="0" smtClean="0"/>
              <a:t>06</a:t>
            </a:r>
            <a:endParaRPr lang="en-US" dirty="0"/>
          </a:p>
          <a:p>
            <a:pPr eaLnBrk="1" fontAlgn="auto" hangingPunct="1"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3D86E-B8C9-F9B1-2FC3-54A1A22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defRPr/>
            </a:pPr>
            <a:r>
              <a:rPr lang="en-US"/>
              <a:t>Artificial Intelligence</a:t>
            </a:r>
          </a:p>
        </p:txBody>
      </p:sp>
      <p:pic>
        <p:nvPicPr>
          <p:cNvPr id="9221" name="Picture 4" descr="Logo&#10;&#10;Description automatically generated">
            <a:extLst>
              <a:ext uri="{FF2B5EF4-FFF2-40B4-BE49-F238E27FC236}">
                <a16:creationId xmlns:a16="http://schemas.microsoft.com/office/drawing/2014/main" id="{FA71A700-9D82-0381-46BE-F4BA8A14C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1046163"/>
            <a:ext cx="113665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994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Organization </a:t>
            </a:r>
            <a:r>
              <a:rPr sz="4000" spc="-10" dirty="0"/>
              <a:t>of</a:t>
            </a:r>
            <a:r>
              <a:rPr sz="4000" spc="-70" dirty="0"/>
              <a:t> </a:t>
            </a:r>
            <a:r>
              <a:rPr sz="4000" spc="-5" dirty="0"/>
              <a:t>Lecture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26695" y="1935738"/>
            <a:ext cx="8690609" cy="2941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8530" marR="5080" indent="-343535">
              <a:lnSpc>
                <a:spcPct val="107100"/>
              </a:lnSpc>
              <a:spcBef>
                <a:spcPts val="100"/>
              </a:spcBef>
              <a:buClr>
                <a:srgbClr val="9B2C1F"/>
              </a:buClr>
              <a:buSzPct val="85185"/>
              <a:buAutoNum type="arabicPeriod"/>
              <a:tabLst>
                <a:tab pos="939800" algn="l"/>
                <a:tab pos="2742565" algn="l"/>
                <a:tab pos="4156710" algn="l"/>
                <a:tab pos="6037580" algn="l"/>
                <a:tab pos="6898640" algn="l"/>
              </a:tabLst>
            </a:pPr>
            <a:r>
              <a:rPr lang="en-US" sz="3400" spc="-5" dirty="0"/>
              <a:t>Propositional Calculus</a:t>
            </a:r>
          </a:p>
          <a:p>
            <a:pPr marL="938530" marR="5080" indent="-343535">
              <a:lnSpc>
                <a:spcPct val="107100"/>
              </a:lnSpc>
              <a:spcBef>
                <a:spcPts val="100"/>
              </a:spcBef>
              <a:buClr>
                <a:srgbClr val="9B2C1F"/>
              </a:buClr>
              <a:buSzPct val="85185"/>
              <a:buAutoNum type="arabicPeriod"/>
              <a:tabLst>
                <a:tab pos="939800" algn="l"/>
                <a:tab pos="2742565" algn="l"/>
                <a:tab pos="4156710" algn="l"/>
                <a:tab pos="6037580" algn="l"/>
                <a:tab pos="6898640" algn="l"/>
              </a:tabLst>
            </a:pPr>
            <a:r>
              <a:rPr lang="en-US" sz="3400" spc="-5" dirty="0"/>
              <a:t>Set of Equivalence Relation or Laws</a:t>
            </a:r>
          </a:p>
          <a:p>
            <a:pPr marL="938530" marR="5080" indent="-343535">
              <a:lnSpc>
                <a:spcPct val="107100"/>
              </a:lnSpc>
              <a:spcBef>
                <a:spcPts val="100"/>
              </a:spcBef>
              <a:buClr>
                <a:srgbClr val="9B2C1F"/>
              </a:buClr>
              <a:buSzPct val="85185"/>
              <a:buAutoNum type="arabicPeriod"/>
              <a:tabLst>
                <a:tab pos="939800" algn="l"/>
                <a:tab pos="2742565" algn="l"/>
                <a:tab pos="4156710" algn="l"/>
                <a:tab pos="6037580" algn="l"/>
                <a:tab pos="6898640" algn="l"/>
              </a:tabLst>
            </a:pPr>
            <a:r>
              <a:rPr lang="en-US" sz="3400" spc="-5" dirty="0"/>
              <a:t>Rules of Inference</a:t>
            </a:r>
          </a:p>
          <a:p>
            <a:pPr marL="938530" marR="5080" indent="-343535">
              <a:lnSpc>
                <a:spcPct val="107100"/>
              </a:lnSpc>
              <a:spcBef>
                <a:spcPts val="100"/>
              </a:spcBef>
              <a:buClr>
                <a:srgbClr val="9B2C1F"/>
              </a:buClr>
              <a:buSzPct val="85185"/>
              <a:buAutoNum type="arabicPeriod"/>
              <a:tabLst>
                <a:tab pos="939800" algn="l"/>
                <a:tab pos="2742565" algn="l"/>
                <a:tab pos="4156710" algn="l"/>
                <a:tab pos="6037580" algn="l"/>
                <a:tab pos="6898640" algn="l"/>
              </a:tabLst>
            </a:pPr>
            <a:r>
              <a:rPr lang="en-US" sz="3400" spc="-5" dirty="0"/>
              <a:t>First Order Logic (FOL)</a:t>
            </a:r>
          </a:p>
          <a:p>
            <a:pPr marL="938530" marR="5080" indent="-343535">
              <a:lnSpc>
                <a:spcPct val="107100"/>
              </a:lnSpc>
              <a:spcBef>
                <a:spcPts val="100"/>
              </a:spcBef>
              <a:buClr>
                <a:srgbClr val="9B2C1F"/>
              </a:buClr>
              <a:buSzPct val="85185"/>
              <a:buAutoNum type="arabicPeriod"/>
              <a:tabLst>
                <a:tab pos="939800" algn="l"/>
                <a:tab pos="2742565" algn="l"/>
                <a:tab pos="4156710" algn="l"/>
                <a:tab pos="6037580" algn="l"/>
                <a:tab pos="6898640" algn="l"/>
              </a:tabLst>
            </a:pPr>
            <a:r>
              <a:rPr lang="en-US" sz="3400" spc="-5" dirty="0"/>
              <a:t>Unification Algorithm in A.I</a:t>
            </a:r>
            <a:endParaRPr sz="3400"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8925-A5C5-9234-2498-95E3C334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3DDB-4654-202E-CE8D-D4B4FB43C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0" i="0" u="sng" dirty="0">
                <a:solidFill>
                  <a:schemeClr val="accent2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Propositional logic</a:t>
            </a:r>
            <a:r>
              <a:rPr lang="en-US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 a branch of logic that deals with propositions,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</a:rPr>
              <a:t>Proposition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is a declarative statement that can be either true or false but cannot be both at the same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 AI propositions are those facts or conditions, regarding a particular situation or fact in the world.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is the simplest form of logic used to represent </a:t>
            </a:r>
            <a:r>
              <a:rPr lang="en-US" sz="2800" dirty="0">
                <a:solidFill>
                  <a:schemeClr val="accent2"/>
                </a:solidFill>
              </a:rPr>
              <a:t>knowledge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reason about 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unito" pitchFamily="2" charset="0"/>
              </a:rPr>
              <a:t>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60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32A5-28C8-FE85-8F0A-87BF960D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D1DED2-C0A6-7BEB-934E-FA2ADA545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789" y="1905000"/>
            <a:ext cx="7926421" cy="372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9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D6EE-5A7C-834A-EC5F-614CBE54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E9B35-33CB-0DE3-390B-66D5A0F44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Examples of Propositions: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"It is raining."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"The light is on."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"Ali is a student."</a:t>
            </a:r>
          </a:p>
          <a:p>
            <a:pPr>
              <a:buNone/>
            </a:pPr>
            <a:r>
              <a:rPr lang="en-US" dirty="0"/>
              <a:t>Each of these can be represented by a single letter: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P = "It is raining"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Q = "The light is on"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R = "Ali is a student"</a:t>
            </a:r>
          </a:p>
          <a:p>
            <a:r>
              <a:rPr lang="en-US" dirty="0">
                <a:solidFill>
                  <a:schemeClr val="accent2"/>
                </a:solidFill>
              </a:rPr>
              <a:t>All these are atomic propositions.</a:t>
            </a:r>
          </a:p>
        </p:txBody>
      </p:sp>
    </p:spTree>
    <p:extLst>
      <p:ext uri="{BB962C8B-B14F-4D97-AF65-F5344CB8AC3E}">
        <p14:creationId xmlns:p14="http://schemas.microsoft.com/office/powerpoint/2010/main" val="2551315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F74B-0D5B-D20C-38DA-ED6365B9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8FFA-3C54-AF3C-B8BD-AD6F3EC8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ED3E-EE9A-C09F-1134-B96BCF693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91919"/>
                </a:solidFill>
                <a:effectLst/>
              </a:rPr>
              <a:t>Logical Connectives:</a:t>
            </a:r>
            <a:endParaRPr lang="en-US" b="0" i="0" dirty="0">
              <a:solidFill>
                <a:srgbClr val="191919"/>
              </a:solidFill>
              <a:effectLst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91919"/>
                </a:solidFill>
                <a:effectLst/>
              </a:rPr>
              <a:t>Connectives are used to combine atomic propositions to form </a:t>
            </a:r>
            <a:r>
              <a:rPr lang="en-US" sz="2000" b="1" i="0" dirty="0">
                <a:solidFill>
                  <a:srgbClr val="191919"/>
                </a:solidFill>
                <a:effectLst/>
              </a:rPr>
              <a:t>compound propositions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91919"/>
                </a:solidFill>
                <a:effectLst/>
              </a:rPr>
              <a:t>AND ( ∧ )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: True if both propositions are true.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91919"/>
                </a:solidFill>
                <a:effectLst/>
              </a:rPr>
              <a:t>OR ( ∨ )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: True if at least one proposition is true.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91919"/>
                </a:solidFill>
                <a:effectLst/>
              </a:rPr>
              <a:t>NOT ( ¬ )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: Negates the truth value of a proposition.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91919"/>
                </a:solidFill>
                <a:effectLst/>
              </a:rPr>
              <a:t>IF-THEN ( → )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: True unless the first proposition is true and the second is false.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91919"/>
                </a:solidFill>
                <a:effectLst/>
              </a:rPr>
              <a:t>IF AND ONLY IF ( ↔ )</a:t>
            </a:r>
            <a:r>
              <a:rPr lang="en-US" sz="2000" b="0" i="0" dirty="0">
                <a:solidFill>
                  <a:srgbClr val="191919"/>
                </a:solidFill>
                <a:effectLst/>
              </a:rPr>
              <a:t>: True if both propositions have the </a:t>
            </a:r>
            <a:r>
              <a:rPr lang="en-US" sz="2000" b="0" i="0" dirty="0">
                <a:solidFill>
                  <a:schemeClr val="tx1"/>
                </a:solidFill>
                <a:effectLst/>
              </a:rPr>
              <a:t>same truth value.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Parentheses for grouping: (, 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19191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607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ABE1D-3E8B-1BDF-6FBA-B82850E3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D0B3-0069-3076-82D8-9DA4A4A1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E41B-F7A7-3CF3-4550-CEE5E831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33008"/>
            <a:ext cx="8534399" cy="455676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AND ( ∧ )</a:t>
            </a:r>
            <a:r>
              <a:rPr lang="en-US" sz="2100" dirty="0">
                <a:solidFill>
                  <a:schemeClr val="tx1"/>
                </a:solidFill>
              </a:rPr>
              <a:t>: True if both propositions are true.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Example: "It is raining AND it is cold." →</a:t>
            </a:r>
            <a:r>
              <a:rPr lang="en-US" sz="2100" dirty="0"/>
              <a:t> </a:t>
            </a:r>
            <a:r>
              <a:rPr lang="en-US" sz="2100" dirty="0">
                <a:solidFill>
                  <a:schemeClr val="accent2"/>
                </a:solidFill>
              </a:rPr>
              <a:t>P ∧ 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OR ( ∨ )</a:t>
            </a:r>
            <a:r>
              <a:rPr lang="en-US" sz="2100" dirty="0">
                <a:solidFill>
                  <a:schemeClr val="tx1"/>
                </a:solidFill>
              </a:rPr>
              <a:t>: True if at least one proposition is true.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Example: "It is raining OR it is sunny." →</a:t>
            </a:r>
            <a:r>
              <a:rPr lang="en-US" sz="2100" dirty="0"/>
              <a:t> </a:t>
            </a:r>
            <a:r>
              <a:rPr lang="en-US" sz="2100" dirty="0">
                <a:solidFill>
                  <a:schemeClr val="accent2"/>
                </a:solidFill>
              </a:rPr>
              <a:t>P ∨ 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NOT ( ¬ )</a:t>
            </a:r>
            <a:r>
              <a:rPr lang="en-US" sz="2100" dirty="0">
                <a:solidFill>
                  <a:schemeClr val="tx1"/>
                </a:solidFill>
              </a:rPr>
              <a:t>: Negates the truth value of a proposition.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Example: P=“It is raining”. "It is NOT raining." → </a:t>
            </a:r>
            <a:r>
              <a:rPr lang="en-US" sz="2100" dirty="0">
                <a:solidFill>
                  <a:schemeClr val="accent2"/>
                </a:solidFill>
              </a:rPr>
              <a:t>¬P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IF-THEN ( → )</a:t>
            </a:r>
            <a:r>
              <a:rPr lang="en-US" sz="2100" dirty="0">
                <a:solidFill>
                  <a:schemeClr val="tx1"/>
                </a:solidFill>
              </a:rPr>
              <a:t>: True unless the first proposition is true and the second is false.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Example: "If it rains, then the ground is wet." → </a:t>
            </a:r>
            <a:r>
              <a:rPr lang="en-US" sz="2100" dirty="0">
                <a:solidFill>
                  <a:schemeClr val="accent2"/>
                </a:solidFill>
              </a:rPr>
              <a:t>P → 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IF AND ONLY IF ( ↔ )</a:t>
            </a:r>
            <a:r>
              <a:rPr lang="en-US" sz="2100" dirty="0">
                <a:solidFill>
                  <a:schemeClr val="tx1"/>
                </a:solidFill>
              </a:rPr>
              <a:t>: True if both propositions have the same truth value.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Example: "The heater is on IF AND ONLY IF the temperature is low."→ </a:t>
            </a:r>
            <a:r>
              <a:rPr lang="en-US" sz="2100" dirty="0">
                <a:solidFill>
                  <a:schemeClr val="accent2"/>
                </a:solidFill>
              </a:rPr>
              <a:t>P ↔ Q.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2"/>
                </a:solidFill>
              </a:rPr>
              <a:t>These compound propositions help in building more expressive logical statements and rules.</a:t>
            </a:r>
          </a:p>
        </p:txBody>
      </p:sp>
    </p:spTree>
    <p:extLst>
      <p:ext uri="{BB962C8B-B14F-4D97-AF65-F5344CB8AC3E}">
        <p14:creationId xmlns:p14="http://schemas.microsoft.com/office/powerpoint/2010/main" val="96788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1. Identify the correct logical operator: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  a) If the sun shines, we will go outside → ______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  b) The alarm is set and the door is locked → ______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2. Convert the following sentences into propositional logic: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   a) "If I study, I will pass the test"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   b) "It is raining or it is snowing"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   c) "You can drive if and only if you have a license"</a:t>
            </a:r>
          </a:p>
          <a:p>
            <a:pPr marL="0" indent="0">
              <a:buNone/>
            </a:pPr>
            <a:r>
              <a:rPr sz="2200" dirty="0">
                <a:solidFill>
                  <a:schemeClr val="tx1"/>
                </a:solidFill>
              </a:rPr>
              <a:t>3. Create your own examples using ¬, ∧, ∨, →, 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88" y="1676400"/>
            <a:ext cx="8843211" cy="3886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  <a:buNone/>
            </a:pPr>
            <a:r>
              <a:rPr lang="en-US" sz="2200" i="1" dirty="0">
                <a:cs typeface="Times New Roman" panose="02020603050405020304" pitchFamily="18" charset="0"/>
              </a:rPr>
              <a:t>(P, Q, R are propositional variables)</a:t>
            </a:r>
            <a:endParaRPr lang="en-US" sz="2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  <a:buNone/>
            </a:pPr>
            <a:r>
              <a:rPr lang="en-US" sz="2200" b="1" dirty="0">
                <a:cs typeface="Times New Roman" panose="02020603050405020304" pitchFamily="18" charset="0"/>
              </a:rPr>
              <a:t>1. Commutative Laws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b="1" dirty="0">
                <a:cs typeface="Times New Roman" panose="02020603050405020304" pitchFamily="18" charset="0"/>
              </a:rPr>
              <a:t>P ∧ Q ≡ Q ∧ P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b="1" dirty="0">
                <a:cs typeface="Times New Roman" panose="02020603050405020304" pitchFamily="18" charset="0"/>
              </a:rPr>
              <a:t>P ∨ Q ≡ Q ∨ P</a:t>
            </a:r>
            <a:endParaRPr lang="en-US" sz="22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dirty="0">
                <a:cs typeface="Times New Roman" panose="02020603050405020304" pitchFamily="18" charset="0"/>
              </a:rPr>
              <a:t>These laws say the </a:t>
            </a:r>
            <a:r>
              <a:rPr lang="en-US" sz="2200" b="1" dirty="0">
                <a:cs typeface="Times New Roman" panose="02020603050405020304" pitchFamily="18" charset="0"/>
              </a:rPr>
              <a:t>order</a:t>
            </a:r>
            <a:r>
              <a:rPr lang="en-US" sz="2200" dirty="0">
                <a:cs typeface="Times New Roman" panose="02020603050405020304" pitchFamily="18" charset="0"/>
              </a:rPr>
              <a:t> doesn’t matter for </a:t>
            </a:r>
            <a:r>
              <a:rPr lang="en-US" sz="2200" b="1" dirty="0">
                <a:cs typeface="Times New Roman" panose="02020603050405020304" pitchFamily="18" charset="0"/>
              </a:rPr>
              <a:t>AND (∧)</a:t>
            </a:r>
            <a:r>
              <a:rPr lang="en-US" sz="2200" dirty="0"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cs typeface="Times New Roman" panose="02020603050405020304" pitchFamily="18" charset="0"/>
              </a:rPr>
              <a:t>OR (∨)</a:t>
            </a:r>
            <a:r>
              <a:rPr lang="en-US" sz="2200" dirty="0">
                <a:cs typeface="Times New Roman" panose="02020603050405020304" pitchFamily="18" charset="0"/>
              </a:rPr>
              <a:t>.</a:t>
            </a:r>
            <a:br>
              <a:rPr lang="en-US" sz="2200" dirty="0">
                <a:cs typeface="Times New Roman" panose="02020603050405020304" pitchFamily="18" charset="0"/>
              </a:rPr>
            </a:br>
            <a:r>
              <a:rPr lang="en-US" sz="2200" dirty="0">
                <a:cs typeface="Times New Roman" panose="02020603050405020304" pitchFamily="18" charset="0"/>
              </a:rPr>
              <a:t>Just like 2 + 3 = 3 + 2.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b="1" dirty="0">
                <a:cs typeface="Times New Roman" panose="02020603050405020304" pitchFamily="18" charset="0"/>
              </a:rPr>
              <a:t>Example: </a:t>
            </a:r>
            <a:endParaRPr lang="en-US" sz="22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000" dirty="0"/>
              <a:t>It is cold AND raining” is the same as “It is raining AND cold.</a:t>
            </a:r>
            <a:endParaRPr lang="en-US" sz="2200" b="1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000" dirty="0"/>
              <a:t>It is cloudy OR it is raining” is the same as “It is raining OR it is cloudy</a:t>
            </a:r>
            <a:endParaRPr lang="en-US" sz="2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89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1855-D746-098F-42D5-28E7CE76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0DA1-EA93-7DF7-F180-A9A5CA3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6A4E8-28C1-133B-136F-6D8F3B3CD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88" y="1676400"/>
            <a:ext cx="8843211" cy="3886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  <a:buNone/>
            </a:pPr>
            <a:r>
              <a:rPr lang="en-US" sz="2200" b="1" dirty="0">
                <a:cs typeface="Times New Roman" panose="02020603050405020304" pitchFamily="18" charset="0"/>
              </a:rPr>
              <a:t>2. Associative Laws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b="1" dirty="0">
                <a:cs typeface="Times New Roman" panose="02020603050405020304" pitchFamily="18" charset="0"/>
              </a:rPr>
              <a:t>(P ∧ Q) ∧ R ≡ P ∧ (Q ∧ R)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b="1" dirty="0">
                <a:cs typeface="Times New Roman" panose="02020603050405020304" pitchFamily="18" charset="0"/>
              </a:rPr>
              <a:t>(P ∨ Q) ∨ R ≡ P ∨ (Q ∨ R)</a:t>
            </a:r>
            <a:endParaRPr lang="en-US" sz="22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200" dirty="0">
                <a:cs typeface="Times New Roman" panose="02020603050405020304" pitchFamily="18" charset="0"/>
              </a:rPr>
              <a:t>When combining 3 statements with AND or </a:t>
            </a:r>
            <a:r>
              <a:rPr lang="en-US" sz="2200" dirty="0" err="1">
                <a:cs typeface="Times New Roman" panose="02020603050405020304" pitchFamily="18" charset="0"/>
              </a:rPr>
              <a:t>OR</a:t>
            </a:r>
            <a:r>
              <a:rPr lang="en-US" sz="2200" dirty="0">
                <a:cs typeface="Times New Roman" panose="02020603050405020304" pitchFamily="18" charset="0"/>
              </a:rPr>
              <a:t>, the </a:t>
            </a:r>
            <a:r>
              <a:rPr lang="en-US" sz="2200" b="1" dirty="0">
                <a:cs typeface="Times New Roman" panose="02020603050405020304" pitchFamily="18" charset="0"/>
              </a:rPr>
              <a:t>grouping</a:t>
            </a:r>
            <a:r>
              <a:rPr lang="en-US" sz="2200" dirty="0">
                <a:cs typeface="Times New Roman" panose="02020603050405020304" pitchFamily="18" charset="0"/>
              </a:rPr>
              <a:t> doesn’t affect the result.</a:t>
            </a:r>
            <a:br>
              <a:rPr lang="en-US" sz="2200" dirty="0">
                <a:cs typeface="Times New Roman" panose="02020603050405020304" pitchFamily="18" charset="0"/>
              </a:rPr>
            </a:br>
            <a:r>
              <a:rPr lang="en-US" sz="2200" dirty="0">
                <a:cs typeface="Times New Roman" panose="02020603050405020304" pitchFamily="18" charset="0"/>
              </a:rPr>
              <a:t>Think: (A + B) + C = A + (B + C)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000" b="1" dirty="0"/>
              <a:t>Examples: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000" dirty="0"/>
              <a:t>(Raining AND Cold) AND Windy” = “Raining AND (Cold AND Windy)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lang="en-US" sz="2000" dirty="0"/>
              <a:t>(Cloudy OR Raining) OR Thunder” = “Cloudy OR (Raining OR Thunder)</a:t>
            </a:r>
            <a:endParaRPr lang="en-US" sz="22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endParaRPr lang="en-US" sz="2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58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cs typeface="Times New Roman" panose="02020603050405020304" pitchFamily="18" charset="0"/>
              </a:rPr>
              <a:t>3. Double Negation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/>
            <a:r>
              <a:rPr lang="en-US" sz="2200" b="1" dirty="0">
                <a:cs typeface="Times New Roman" panose="02020603050405020304" pitchFamily="18" charset="0"/>
              </a:rPr>
              <a:t>¬(¬P) ≡ P</a:t>
            </a:r>
            <a:endParaRPr lang="en-US" sz="2200" dirty="0">
              <a:cs typeface="Times New Roman" panose="02020603050405020304" pitchFamily="18" charset="0"/>
            </a:endParaRPr>
          </a:p>
          <a:p>
            <a:r>
              <a:rPr lang="en-US" sz="2200" dirty="0">
                <a:cs typeface="Times New Roman" panose="02020603050405020304" pitchFamily="18" charset="0"/>
              </a:rPr>
              <a:t>If you </a:t>
            </a:r>
            <a:r>
              <a:rPr lang="en-US" sz="2200" b="1" dirty="0">
                <a:cs typeface="Times New Roman" panose="02020603050405020304" pitchFamily="18" charset="0"/>
              </a:rPr>
              <a:t>negate</a:t>
            </a:r>
            <a:r>
              <a:rPr lang="en-US" sz="2200" dirty="0">
                <a:cs typeface="Times New Roman" panose="02020603050405020304" pitchFamily="18" charset="0"/>
              </a:rPr>
              <a:t> a statement </a:t>
            </a:r>
            <a:r>
              <a:rPr lang="en-US" sz="2200" b="1" dirty="0">
                <a:cs typeface="Times New Roman" panose="02020603050405020304" pitchFamily="18" charset="0"/>
              </a:rPr>
              <a:t>twice</a:t>
            </a:r>
            <a:r>
              <a:rPr lang="en-US" sz="2200" dirty="0">
                <a:cs typeface="Times New Roman" panose="02020603050405020304" pitchFamily="18" charset="0"/>
              </a:rPr>
              <a:t>, you get back the original.</a:t>
            </a:r>
            <a:br>
              <a:rPr lang="en-US" sz="2200" dirty="0">
                <a:cs typeface="Times New Roman" panose="02020603050405020304" pitchFamily="18" charset="0"/>
              </a:rPr>
            </a:br>
            <a:r>
              <a:rPr lang="en-US" sz="2200" dirty="0">
                <a:cs typeface="Times New Roman" panose="02020603050405020304" pitchFamily="18" charset="0"/>
              </a:rPr>
              <a:t>Saying “It’s not true that it’s not raining” just means “It is raining.”</a:t>
            </a:r>
          </a:p>
          <a:p>
            <a:pPr marL="0" indent="0">
              <a:buNone/>
            </a:pPr>
            <a:endParaRPr lang="en-US" sz="2200" dirty="0"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5509F-90BE-017E-848C-E78ECA867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651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3856-1DFE-B5A4-7832-E0276786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9F54-C374-4092-47C1-C9663D1BA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cs typeface="Times New Roman" panose="02020603050405020304" pitchFamily="18" charset="0"/>
              </a:rPr>
              <a:t>4. De Morgan’s Laws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/>
            <a:r>
              <a:rPr lang="en-US" sz="2200" b="1" dirty="0">
                <a:cs typeface="Times New Roman" panose="02020603050405020304" pitchFamily="18" charset="0"/>
              </a:rPr>
              <a:t>¬(P ∨ Q) ≡ ¬P ∧ ¬Q</a:t>
            </a:r>
          </a:p>
          <a:p>
            <a:pPr lvl="0"/>
            <a:r>
              <a:rPr lang="en-US" sz="2200" b="1" dirty="0">
                <a:cs typeface="Times New Roman" panose="02020603050405020304" pitchFamily="18" charset="0"/>
              </a:rPr>
              <a:t>Example: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000" dirty="0"/>
              <a:t>It is NOT (raining OR cloudy)” = “It is NOT raining AND it is NOT cloudy.</a:t>
            </a:r>
            <a:endParaRPr lang="en-US" sz="2200" dirty="0">
              <a:cs typeface="Times New Roman" panose="02020603050405020304" pitchFamily="18" charset="0"/>
            </a:endParaRPr>
          </a:p>
          <a:p>
            <a:pPr lvl="0"/>
            <a:r>
              <a:rPr lang="en-US" sz="2200" b="1" dirty="0">
                <a:cs typeface="Times New Roman" panose="02020603050405020304" pitchFamily="18" charset="0"/>
              </a:rPr>
              <a:t>¬(P ∧ Q) ≡ ¬P ∨ ¬Q</a:t>
            </a:r>
          </a:p>
          <a:p>
            <a:pPr lvl="0"/>
            <a:r>
              <a:rPr lang="en-US" sz="2200" b="1" dirty="0">
                <a:cs typeface="Times New Roman" panose="02020603050405020304" pitchFamily="18" charset="0"/>
              </a:rPr>
              <a:t>Example: </a:t>
            </a:r>
            <a:r>
              <a:rPr lang="en-US" sz="2000" dirty="0"/>
              <a:t>It is NOT (raining AND cold)” = “It is NOT raining OR it is NOT cold.</a:t>
            </a:r>
            <a:endParaRPr lang="en-US" sz="2200" dirty="0">
              <a:cs typeface="Times New Roman" panose="02020603050405020304" pitchFamily="18" charset="0"/>
            </a:endParaRPr>
          </a:p>
          <a:p>
            <a:r>
              <a:rPr lang="en-US" sz="2200" dirty="0">
                <a:cs typeface="Times New Roman" panose="02020603050405020304" pitchFamily="18" charset="0"/>
              </a:rPr>
              <a:t>These laws show how to </a:t>
            </a:r>
            <a:r>
              <a:rPr lang="en-US" sz="2200" b="1" dirty="0">
                <a:cs typeface="Times New Roman" panose="02020603050405020304" pitchFamily="18" charset="0"/>
              </a:rPr>
              <a:t>distribute a NOT</a:t>
            </a:r>
            <a:r>
              <a:rPr lang="en-US" sz="2200" dirty="0">
                <a:cs typeface="Times New Roman" panose="02020603050405020304" pitchFamily="18" charset="0"/>
              </a:rPr>
              <a:t> over AND/OR:</a:t>
            </a:r>
          </a:p>
          <a:p>
            <a:pPr lvl="0"/>
            <a:r>
              <a:rPr lang="en-US" sz="2200" dirty="0">
                <a:cs typeface="Times New Roman" panose="02020603050405020304" pitchFamily="18" charset="0"/>
              </a:rPr>
              <a:t>“Not (P or Q)” means “not P and not Q.”</a:t>
            </a:r>
          </a:p>
          <a:p>
            <a:pPr lvl="0"/>
            <a:r>
              <a:rPr lang="en-US" sz="2200" dirty="0">
                <a:cs typeface="Times New Roman" panose="02020603050405020304" pitchFamily="18" charset="0"/>
              </a:rPr>
              <a:t>“Not (P and Q)” means “not P or not Q.”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4EED-11D1-7FBE-AF65-270637A7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36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4" y="1757073"/>
            <a:ext cx="8229600" cy="5100927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spcBef>
                <a:spcPts val="600"/>
              </a:spcBef>
              <a:buNone/>
            </a:pPr>
            <a:r>
              <a:rPr lang="en-US" sz="2400" b="1" dirty="0"/>
              <a:t>5. Absorption Laws</a:t>
            </a:r>
          </a:p>
          <a:p>
            <a:pPr marL="0" indent="0">
              <a:lnSpc>
                <a:spcPct val="50000"/>
              </a:lnSpc>
              <a:spcBef>
                <a:spcPts val="600"/>
              </a:spcBef>
              <a:buNone/>
            </a:pPr>
            <a:endParaRPr lang="en-US" sz="2400" dirty="0"/>
          </a:p>
          <a:p>
            <a:pPr lvl="0">
              <a:lnSpc>
                <a:spcPct val="50000"/>
              </a:lnSpc>
              <a:spcBef>
                <a:spcPts val="600"/>
              </a:spcBef>
            </a:pPr>
            <a:r>
              <a:rPr lang="en-US" sz="2400" b="1" dirty="0"/>
              <a:t>P ∧ (P ∨ Q) ≡ P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US" sz="2400" b="1" dirty="0"/>
              <a:t>Example: </a:t>
            </a:r>
            <a:r>
              <a:rPr lang="en-US" sz="2400" dirty="0"/>
              <a:t>It is raining AND (raining OR cloudy)” is also just “It is raining.</a:t>
            </a:r>
            <a:endParaRPr lang="en-US" sz="2400" b="1" dirty="0"/>
          </a:p>
          <a:p>
            <a:pPr lvl="0">
              <a:lnSpc>
                <a:spcPct val="50000"/>
              </a:lnSpc>
              <a:spcBef>
                <a:spcPts val="600"/>
              </a:spcBef>
            </a:pPr>
            <a:endParaRPr lang="en-US" sz="2400" b="1" dirty="0"/>
          </a:p>
          <a:p>
            <a:pPr lvl="0">
              <a:lnSpc>
                <a:spcPct val="50000"/>
              </a:lnSpc>
              <a:spcBef>
                <a:spcPts val="600"/>
              </a:spcBef>
            </a:pPr>
            <a:r>
              <a:rPr lang="en-US" sz="2400" b="1" dirty="0"/>
              <a:t>P ∨ (P ∧ Q) ≡ P</a:t>
            </a:r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It is raining OR (raining AND cloudy)” is just “It is raining.</a:t>
            </a:r>
          </a:p>
          <a:p>
            <a:r>
              <a:rPr lang="en-US" sz="2400" dirty="0"/>
              <a:t>These help </a:t>
            </a:r>
            <a:r>
              <a:rPr lang="en-US" sz="2400" b="1" dirty="0"/>
              <a:t>simplify</a:t>
            </a:r>
            <a:r>
              <a:rPr lang="en-US" sz="2400" dirty="0"/>
              <a:t> expressions by absorbing the second part:</a:t>
            </a:r>
          </a:p>
          <a:p>
            <a:pPr lvl="0"/>
            <a:r>
              <a:rPr lang="en-US" sz="2400" dirty="0"/>
              <a:t>If P is true, “P AND (P OR Q)” is just P.</a:t>
            </a:r>
          </a:p>
          <a:p>
            <a:pPr lvl="0"/>
            <a:r>
              <a:rPr lang="en-US" sz="2400" dirty="0"/>
              <a:t>If P is true, “P OR (P AND Q)” is also just P</a:t>
            </a:r>
          </a:p>
          <a:p>
            <a:pPr lvl="0"/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CBC77-6751-7A36-26A7-EDB63ACE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248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C819-BAC7-CF92-8165-ECC254A9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6F484-2FC5-B9E1-13B1-67F9FA45D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1520"/>
            <a:ext cx="8229600" cy="5100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6. Law of Contradiction</a:t>
            </a:r>
            <a:endParaRPr lang="en-US" sz="2400" dirty="0"/>
          </a:p>
          <a:p>
            <a:pPr lvl="0"/>
            <a:r>
              <a:rPr lang="en-US" sz="2400" b="1" dirty="0"/>
              <a:t>P ∧ ¬P ≡ False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law says a statement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negation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never be true at the same time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false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You can't say “It is raining AND it is not raining” at the same time.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/>
            <a:endParaRPr lang="en-US" sz="2400" dirty="0"/>
          </a:p>
          <a:p>
            <a:pPr lvl="0"/>
            <a:endParaRPr lang="en-US" sz="2400" b="1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CE1289D-5DBC-E9A3-0513-672ADF684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908923"/>
              </p:ext>
            </p:extLst>
          </p:nvPr>
        </p:nvGraphicFramePr>
        <p:xfrm>
          <a:off x="5733142" y="1752600"/>
          <a:ext cx="2046513" cy="88536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682171">
                  <a:extLst>
                    <a:ext uri="{9D8B030D-6E8A-4147-A177-3AD203B41FA5}">
                      <a16:colId xmlns:a16="http://schemas.microsoft.com/office/drawing/2014/main" val="2491163990"/>
                    </a:ext>
                  </a:extLst>
                </a:gridCol>
                <a:gridCol w="682171">
                  <a:extLst>
                    <a:ext uri="{9D8B030D-6E8A-4147-A177-3AD203B41FA5}">
                      <a16:colId xmlns:a16="http://schemas.microsoft.com/office/drawing/2014/main" val="1512114401"/>
                    </a:ext>
                  </a:extLst>
                </a:gridCol>
                <a:gridCol w="682171">
                  <a:extLst>
                    <a:ext uri="{9D8B030D-6E8A-4147-A177-3AD203B41FA5}">
                      <a16:colId xmlns:a16="http://schemas.microsoft.com/office/drawing/2014/main" val="2340058446"/>
                    </a:ext>
                  </a:extLst>
                </a:gridCol>
              </a:tblGrid>
              <a:tr h="2951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¬P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 ∧ ¬P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5090015"/>
                  </a:ext>
                </a:extLst>
              </a:tr>
              <a:tr h="2951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2539635"/>
                  </a:ext>
                </a:extLst>
              </a:tr>
              <a:tr h="2951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054490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B7E2273-306E-74A0-1BDE-D08A0B92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6728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1363-0A1C-A431-17DD-AB5D7D2C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336F-FA3D-568C-139E-782C169B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4" y="1828800"/>
            <a:ext cx="8229600" cy="510092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7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Law of Excluded Middle</a:t>
            </a:r>
            <a:endParaRPr lang="en-US" alt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∨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¬P ≡ True</a:t>
            </a:r>
            <a:endParaRPr lang="en-US" alt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means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either a statement is true or its negation is true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—there's </a:t>
            </a: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third option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true</a:t>
            </a:r>
            <a:r>
              <a:rPr lang="en-US" alt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It's either raining or it's not—one must be correct.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/>
            <a:endParaRPr lang="en-US" sz="2400" dirty="0"/>
          </a:p>
          <a:p>
            <a:pPr lvl="0"/>
            <a:endParaRPr lang="en-US" sz="2400" b="1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F280041-894B-8F55-D5F3-6A508BE03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0155"/>
              </p:ext>
            </p:extLst>
          </p:nvPr>
        </p:nvGraphicFramePr>
        <p:xfrm>
          <a:off x="3276600" y="3657600"/>
          <a:ext cx="2267859" cy="81505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755953">
                  <a:extLst>
                    <a:ext uri="{9D8B030D-6E8A-4147-A177-3AD203B41FA5}">
                      <a16:colId xmlns:a16="http://schemas.microsoft.com/office/drawing/2014/main" val="3924089477"/>
                    </a:ext>
                  </a:extLst>
                </a:gridCol>
                <a:gridCol w="916820">
                  <a:extLst>
                    <a:ext uri="{9D8B030D-6E8A-4147-A177-3AD203B41FA5}">
                      <a16:colId xmlns:a16="http://schemas.microsoft.com/office/drawing/2014/main" val="3098607669"/>
                    </a:ext>
                  </a:extLst>
                </a:gridCol>
                <a:gridCol w="595086">
                  <a:extLst>
                    <a:ext uri="{9D8B030D-6E8A-4147-A177-3AD203B41FA5}">
                      <a16:colId xmlns:a16="http://schemas.microsoft.com/office/drawing/2014/main" val="3004458089"/>
                    </a:ext>
                  </a:extLst>
                </a:gridCol>
              </a:tblGrid>
              <a:tr h="2716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¬P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 ∨ ¬P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5031034"/>
                  </a:ext>
                </a:extLst>
              </a:tr>
              <a:tr h="2716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4460564"/>
                  </a:ext>
                </a:extLst>
              </a:tr>
              <a:tr h="2716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90899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BAE6C51-CA5F-C677-436D-4719EDCF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1914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039945"/>
              </p:ext>
            </p:extLst>
          </p:nvPr>
        </p:nvGraphicFramePr>
        <p:xfrm>
          <a:off x="892631" y="4879869"/>
          <a:ext cx="4811486" cy="1014265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405743">
                  <a:extLst>
                    <a:ext uri="{9D8B030D-6E8A-4147-A177-3AD203B41FA5}">
                      <a16:colId xmlns:a16="http://schemas.microsoft.com/office/drawing/2014/main" val="3335525346"/>
                    </a:ext>
                  </a:extLst>
                </a:gridCol>
                <a:gridCol w="2405743">
                  <a:extLst>
                    <a:ext uri="{9D8B030D-6E8A-4147-A177-3AD203B41FA5}">
                      <a16:colId xmlns:a16="http://schemas.microsoft.com/office/drawing/2014/main" val="1865396825"/>
                    </a:ext>
                  </a:extLst>
                </a:gridCol>
              </a:tblGrid>
              <a:tr h="4503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 ∧ 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947488"/>
                  </a:ext>
                </a:extLst>
              </a:tr>
              <a:tr h="2819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6896718"/>
                  </a:ext>
                </a:extLst>
              </a:tr>
              <a:tr h="2819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170691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37028" y="1753612"/>
            <a:ext cx="82586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8. Law of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Idempotency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Cambria Math" panose="02040503050406030204" pitchFamily="18" charset="0"/>
              </a:rPr>
              <a:t>∧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 ≡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P </a:t>
            </a: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∨ 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≡ 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Repeating the same statement with AND gives the same result.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 stays the same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“It is raining AND it is raining” is no different from just saying “It is raining.”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989D-89A1-7CAF-BE21-3BC0B1D6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1384"/>
            <a:ext cx="8229600" cy="916853"/>
          </a:xfrm>
        </p:spPr>
        <p:txBody>
          <a:bodyPr>
            <a:normAutofit/>
          </a:bodyPr>
          <a:lstStyle/>
          <a:p>
            <a:r>
              <a:rPr lang="en-US" sz="3600" b="1" dirty="0"/>
              <a:t>Equivalence Laws in Propositional Logic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961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2309-DBC2-27E1-3694-9497B3B8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20E6-3591-3C42-ED7F-6B09E7335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en-US" sz="2200" b="1" i="0" dirty="0">
                <a:solidFill>
                  <a:srgbClr val="1C2833"/>
                </a:solidFill>
                <a:effectLst/>
              </a:rPr>
              <a:t>Modus Ponens:</a:t>
            </a:r>
          </a:p>
          <a:p>
            <a:pPr algn="just">
              <a:buNone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The Modus Ponens rule is one of the most important rules of inference, and it states that if P and P → Q is true, then we can infer that Q will be true. It can be represented as:</a:t>
            </a:r>
          </a:p>
          <a:p>
            <a:pPr>
              <a:buNone/>
            </a:pP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  <a:p>
            <a:pPr algn="just">
              <a:buNone/>
            </a:pPr>
            <a:r>
              <a:rPr lang="en-US" sz="2200" b="1" i="0" dirty="0">
                <a:solidFill>
                  <a:srgbClr val="333333"/>
                </a:solidFill>
                <a:effectLst/>
              </a:rPr>
              <a:t>Example: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r>
              <a:rPr lang="en-US" sz="2200" b="0" i="0" dirty="0">
                <a:solidFill>
                  <a:srgbClr val="333333"/>
                </a:solidFill>
                <a:effectLst/>
              </a:rPr>
              <a:t>Statement-1: "If I am sleepy then I go to bed" ==&gt; P→ Q</a:t>
            </a:r>
            <a:br>
              <a:rPr lang="en-US" sz="2200" b="0" i="0" dirty="0">
                <a:solidFill>
                  <a:srgbClr val="333333"/>
                </a:solidFill>
                <a:effectLst/>
              </a:rPr>
            </a:br>
            <a:r>
              <a:rPr lang="en-US" sz="2200" b="0" i="0" dirty="0">
                <a:solidFill>
                  <a:srgbClr val="333333"/>
                </a:solidFill>
                <a:effectLst/>
              </a:rPr>
              <a:t>Statement-2: "I am sleepy" ==&gt; P</a:t>
            </a:r>
            <a:br>
              <a:rPr lang="en-US" sz="2200" b="0" i="0" dirty="0">
                <a:solidFill>
                  <a:srgbClr val="333333"/>
                </a:solidFill>
                <a:effectLst/>
              </a:rPr>
            </a:br>
            <a:r>
              <a:rPr lang="en-US" sz="2200" b="0" i="0" dirty="0">
                <a:solidFill>
                  <a:srgbClr val="333333"/>
                </a:solidFill>
                <a:effectLst/>
              </a:rPr>
              <a:t>Conclusion: "I go to bed." ==&gt; Q.</a:t>
            </a:r>
            <a:br>
              <a:rPr lang="en-US" sz="2200" b="0" i="0" dirty="0">
                <a:solidFill>
                  <a:srgbClr val="333333"/>
                </a:solidFill>
                <a:effectLst/>
              </a:rPr>
            </a:br>
            <a:r>
              <a:rPr lang="en-US" sz="2200" b="0" i="0" dirty="0">
                <a:solidFill>
                  <a:srgbClr val="333333"/>
                </a:solidFill>
                <a:effectLst/>
              </a:rPr>
              <a:t>Hence, we can say that, if P→ Q is true and P is true then Q will be true.</a:t>
            </a:r>
          </a:p>
          <a:p>
            <a:pPr>
              <a:buNone/>
            </a:pPr>
            <a:endParaRPr lang="en-US" sz="2200" dirty="0"/>
          </a:p>
        </p:txBody>
      </p:sp>
      <p:pic>
        <p:nvPicPr>
          <p:cNvPr id="2050" name="Picture 2" descr="Rules of Inference in Artificial intelligence">
            <a:extLst>
              <a:ext uri="{FF2B5EF4-FFF2-40B4-BE49-F238E27FC236}">
                <a16:creationId xmlns:a16="http://schemas.microsoft.com/office/drawing/2014/main" id="{38ACC160-4B95-6A44-920B-3C9102BE1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6"/>
          <a:stretch/>
        </p:blipFill>
        <p:spPr bwMode="auto">
          <a:xfrm>
            <a:off x="1828800" y="3276600"/>
            <a:ext cx="4572000" cy="78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545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67D5-DDB6-A855-A4A7-43E24268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058C-392E-82EA-A445-AE442E79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1F9B-833E-1E82-D374-C01E71CA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en-US" sz="2200" b="1" i="0" dirty="0">
                <a:solidFill>
                  <a:srgbClr val="1C2833"/>
                </a:solidFill>
                <a:effectLst/>
              </a:rPr>
              <a:t>Modus Tollens:</a:t>
            </a:r>
          </a:p>
          <a:p>
            <a:pPr algn="just"/>
            <a:r>
              <a:rPr lang="en-US" sz="2200" b="0" i="0" dirty="0">
                <a:solidFill>
                  <a:srgbClr val="333333"/>
                </a:solidFill>
                <a:effectLst/>
              </a:rPr>
              <a:t>The Modus Tollens rule state that if P→ Q is true and </a:t>
            </a:r>
            <a:r>
              <a:rPr lang="en-US" sz="2200" b="1" i="0" dirty="0">
                <a:solidFill>
                  <a:srgbClr val="333333"/>
                </a:solidFill>
                <a:effectLst/>
              </a:rPr>
              <a:t>¬ Q is true, then ¬ P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 will also true. It can be represented as:</a:t>
            </a:r>
          </a:p>
          <a:p>
            <a:pPr>
              <a:buNone/>
            </a:pP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  <a:p>
            <a:pPr algn="just">
              <a:buNone/>
            </a:pPr>
            <a:r>
              <a:rPr lang="en-US" sz="2200" b="1" i="0" dirty="0">
                <a:solidFill>
                  <a:srgbClr val="333333"/>
                </a:solidFill>
                <a:effectLst/>
              </a:rPr>
              <a:t>Example: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r>
              <a:rPr lang="en-US" sz="2200" b="1" i="0" dirty="0">
                <a:solidFill>
                  <a:srgbClr val="333333"/>
                </a:solidFill>
                <a:effectLst/>
              </a:rPr>
              <a:t>Statement-1: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 "If I am sleepy then I go to bed" ==&gt; P→ Q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b="1" i="0" dirty="0">
                <a:solidFill>
                  <a:srgbClr val="333333"/>
                </a:solidFill>
                <a:effectLst/>
              </a:rPr>
              <a:t>Statement-2: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 "I do not go to the bed."==&gt; ~Q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b="1" i="0" dirty="0">
                <a:solidFill>
                  <a:srgbClr val="333333"/>
                </a:solidFill>
                <a:effectLst/>
              </a:rPr>
              <a:t>Statement-3: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 Which infers that "</a:t>
            </a:r>
            <a:r>
              <a:rPr lang="en-US" sz="2200" b="1" i="0" dirty="0">
                <a:solidFill>
                  <a:srgbClr val="333333"/>
                </a:solidFill>
                <a:effectLst/>
              </a:rPr>
              <a:t>I am not sleepy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" =&gt; ~P</a:t>
            </a:r>
            <a:endParaRPr lang="en-US" sz="2200" dirty="0"/>
          </a:p>
        </p:txBody>
      </p:sp>
      <p:pic>
        <p:nvPicPr>
          <p:cNvPr id="4098" name="Picture 2" descr="Rules of Inference in Artificial intelligence">
            <a:extLst>
              <a:ext uri="{FF2B5EF4-FFF2-40B4-BE49-F238E27FC236}">
                <a16:creationId xmlns:a16="http://schemas.microsoft.com/office/drawing/2014/main" id="{B4E965C1-8538-E36D-DDCB-1CE268387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62" b="1235"/>
          <a:stretch/>
        </p:blipFill>
        <p:spPr bwMode="auto">
          <a:xfrm>
            <a:off x="1371600" y="3048000"/>
            <a:ext cx="58435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956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6C15-3376-F51E-CCBC-194D0508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20EC-A883-EEEC-B325-4BD8E5ED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Propositional Logic -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B214-C705-68F9-AFAA-F1C5A42A8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P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ropositional logic can only represent the facts, which are either true or false.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Not sufficient to represent the complex sentences or natural language statements.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2"/>
                </a:solidFill>
                <a:effectLst/>
              </a:rPr>
              <a:t>"Every student in the room raised their hand.“ Propositional Logic would require a separate symbol for each student, like: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2"/>
                </a:solidFill>
                <a:effectLst/>
              </a:rPr>
              <a:t>P1 = "Ali raised hand", P2 = "Sara raised hand", ...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Has very limited expressive power </a:t>
            </a:r>
            <a:r>
              <a:rPr lang="en-US" sz="2000" dirty="0"/>
              <a:t>PL - </a:t>
            </a:r>
            <a:r>
              <a:rPr lang="en-US" sz="2000" b="1" dirty="0"/>
              <a:t>cannot express "some", "all", "none", "every"</a:t>
            </a:r>
            <a:r>
              <a:rPr lang="en-US" sz="2000" dirty="0"/>
              <a:t> types of statements.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 Consider the following sentence, which we cannot represent using PL logic.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accent2"/>
                </a:solidFill>
                <a:effectLst/>
              </a:rPr>
              <a:t>"Some humans are intelligent", or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accent2"/>
                </a:solidFill>
                <a:effectLst/>
              </a:rPr>
              <a:t>“All humans are mortal."</a:t>
            </a:r>
          </a:p>
        </p:txBody>
      </p:sp>
    </p:spTree>
    <p:extLst>
      <p:ext uri="{BB962C8B-B14F-4D97-AF65-F5344CB8AC3E}">
        <p14:creationId xmlns:p14="http://schemas.microsoft.com/office/powerpoint/2010/main" val="2806244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077C-A2E4-E561-0AAC-67180322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1E8F-41BE-47D6-24DD-ED8EBE6D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Propositional Logic -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F356-44A3-442D-7299-06AC35B5F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28800"/>
            <a:ext cx="7543801" cy="402336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Lacks variables, so general rules can't be formed.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Example: “If a person is hungry, they eat” →  not possible in PL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I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s static — it doesn’t handle dynamic facts.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accent2"/>
                </a:solidFill>
                <a:effectLst/>
              </a:rPr>
              <a:t>Example: “It is raining now but will stop later” →  not possible in PL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No Internal Structure of Propositions: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PL treats entire statements as atomic.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You can’t represent or reason about components within a statement.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accent2"/>
                </a:solidFill>
                <a:effectLst/>
              </a:rPr>
              <a:t>Example: P = "Ali is a student“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accent2"/>
                </a:solidFill>
                <a:effectLst/>
              </a:rPr>
              <a:t>Can't ask: Who is a student?</a:t>
            </a:r>
          </a:p>
        </p:txBody>
      </p:sp>
    </p:spTree>
    <p:extLst>
      <p:ext uri="{BB962C8B-B14F-4D97-AF65-F5344CB8AC3E}">
        <p14:creationId xmlns:p14="http://schemas.microsoft.com/office/powerpoint/2010/main" val="307725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8F1B-238C-69C2-DE19-23FC8A7F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6B9F-693F-85DB-A4B4-C39251B7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81FB-3C7D-FC51-1097-8F0A9E88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28800"/>
            <a:ext cx="7543801" cy="40233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First Order Logic (also called Predicate Logic or First Order Predicate Calculus) is a </a:t>
            </a:r>
            <a:r>
              <a:rPr lang="en-US" sz="2400" b="1" dirty="0"/>
              <a:t>formal system</a:t>
            </a:r>
            <a:r>
              <a:rPr lang="en-US" sz="2400" dirty="0"/>
              <a:t> used to describe the world in terms of: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Objects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Properties of objects (Predicates)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Relationships between objects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Quantified statements like "all", "some"</a:t>
            </a:r>
          </a:p>
        </p:txBody>
      </p:sp>
    </p:spTree>
    <p:extLst>
      <p:ext uri="{BB962C8B-B14F-4D97-AF65-F5344CB8AC3E}">
        <p14:creationId xmlns:p14="http://schemas.microsoft.com/office/powerpoint/2010/main" val="346351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CD35-4C9E-8540-E766-B0FC3AA5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9FEF-9EC9-9AE5-0222-7CD54ECD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24EB9-97F0-3F6D-8683-14F901EA3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0"/>
            <a:ext cx="8686800" cy="426720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Whereas propositional logic assumes that a world contains facts, </a:t>
            </a:r>
            <a:r>
              <a:rPr lang="en-US" sz="2400" dirty="0">
                <a:solidFill>
                  <a:schemeClr val="accent2"/>
                </a:solidFill>
              </a:rPr>
              <a:t>first-order logic, also called Predicate Logic or First Order Predicate Calculus, is a </a:t>
            </a:r>
            <a:r>
              <a:rPr lang="en-US" sz="2400" b="1" dirty="0">
                <a:solidFill>
                  <a:schemeClr val="accent2"/>
                </a:solidFill>
              </a:rPr>
              <a:t>formal system</a:t>
            </a:r>
            <a:r>
              <a:rPr lang="en-US" sz="2400" dirty="0">
                <a:solidFill>
                  <a:schemeClr val="accent2"/>
                </a:solidFill>
              </a:rPr>
              <a:t> (like natural language) that assumes the world contains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Objects: people, houses, numbers, theories, colors, games, wars, . .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Relations: red, round, bogus, prime, multistoried . . ., brother of, bigger than, inside, part of, has color, occurred after, owns, comes between, . .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Functions: father of, best friend, third inning of, one more than, end of . . .</a:t>
            </a:r>
          </a:p>
        </p:txBody>
      </p:sp>
    </p:spTree>
    <p:extLst>
      <p:ext uri="{BB962C8B-B14F-4D97-AF65-F5344CB8AC3E}">
        <p14:creationId xmlns:p14="http://schemas.microsoft.com/office/powerpoint/2010/main" val="4032453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DD095-F16E-6E7E-26A3-BE994E32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D6BC-C549-AAD1-D44C-8B7840BF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F71E2-082F-91A8-CE5D-7A9854374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8321041" cy="4191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</a:rPr>
              <a:t>First-order logic statements can be divided into two parts:</a:t>
            </a:r>
            <a:endParaRPr lang="en-US" sz="2400" b="0" i="0" dirty="0">
              <a:solidFill>
                <a:srgbClr val="333333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</a:rPr>
              <a:t>Subject: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 Subject is the main part of the statement.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</a:rPr>
              <a:t>Predicate: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 A predicate can be defined as a relation, which binds two atoms together in a statement.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</a:rPr>
              <a:t>Consider the statement: "x is an integer."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, it consists of two parts, the first part x is the subject of the statement and second part "is an integer," is known as a predicate.</a:t>
            </a:r>
          </a:p>
        </p:txBody>
      </p:sp>
      <p:pic>
        <p:nvPicPr>
          <p:cNvPr id="7170" name="Picture 2" descr="First-Order Logic in Artificial intelligence">
            <a:extLst>
              <a:ext uri="{FF2B5EF4-FFF2-40B4-BE49-F238E27FC236}">
                <a16:creationId xmlns:a16="http://schemas.microsoft.com/office/drawing/2014/main" id="{CF483ABE-4610-3FF8-7898-9033E579E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95850"/>
            <a:ext cx="3038475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56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3BA4-BF37-A9BB-960C-A6973745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74C7-B168-674D-4529-D5AEBD73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- Laws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8CC7A6-57ED-DD75-744B-487A5A9B9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065" y="1981200"/>
            <a:ext cx="8464198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75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1E9E-82C0-A9E6-B050-1FC0C4B7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C498-1FA9-285E-6C2B-66546F27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– Laws with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4BE68F-0BB3-9465-0CE0-C578F16BB1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03606"/>
              </p:ext>
            </p:extLst>
          </p:nvPr>
        </p:nvGraphicFramePr>
        <p:xfrm>
          <a:off x="838200" y="1846263"/>
          <a:ext cx="7631452" cy="4021136"/>
        </p:xfrm>
        <a:graphic>
          <a:graphicData uri="http://schemas.openxmlformats.org/drawingml/2006/table">
            <a:tbl>
              <a:tblPr/>
              <a:tblGrid>
                <a:gridCol w="1907863">
                  <a:extLst>
                    <a:ext uri="{9D8B030D-6E8A-4147-A177-3AD203B41FA5}">
                      <a16:colId xmlns:a16="http://schemas.microsoft.com/office/drawing/2014/main" val="530038217"/>
                    </a:ext>
                  </a:extLst>
                </a:gridCol>
                <a:gridCol w="1907863">
                  <a:extLst>
                    <a:ext uri="{9D8B030D-6E8A-4147-A177-3AD203B41FA5}">
                      <a16:colId xmlns:a16="http://schemas.microsoft.com/office/drawing/2014/main" val="3321308954"/>
                    </a:ext>
                  </a:extLst>
                </a:gridCol>
                <a:gridCol w="1907863">
                  <a:extLst>
                    <a:ext uri="{9D8B030D-6E8A-4147-A177-3AD203B41FA5}">
                      <a16:colId xmlns:a16="http://schemas.microsoft.com/office/drawing/2014/main" val="4266705302"/>
                    </a:ext>
                  </a:extLst>
                </a:gridCol>
                <a:gridCol w="1907863">
                  <a:extLst>
                    <a:ext uri="{9D8B030D-6E8A-4147-A177-3AD203B41FA5}">
                      <a16:colId xmlns:a16="http://schemas.microsoft.com/office/drawing/2014/main" val="1550057348"/>
                    </a:ext>
                  </a:extLst>
                </a:gridCol>
              </a:tblGrid>
              <a:tr h="574448">
                <a:tc>
                  <a:txBody>
                    <a:bodyPr/>
                    <a:lstStyle/>
                    <a:p>
                      <a:r>
                        <a:rPr lang="en-US" sz="1600"/>
                        <a:t>Operator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Symbol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Meaning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Natural Language Example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821665"/>
                  </a:ext>
                </a:extLst>
              </a:tr>
              <a:tr h="574448">
                <a:tc>
                  <a:txBody>
                    <a:bodyPr/>
                    <a:lstStyle/>
                    <a:p>
                      <a:r>
                        <a:rPr lang="en-US" sz="1600"/>
                        <a:t>Conjunction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∧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AND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"x is tall AND smart"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335598"/>
                  </a:ext>
                </a:extLst>
              </a:tr>
              <a:tr h="574448">
                <a:tc>
                  <a:txBody>
                    <a:bodyPr/>
                    <a:lstStyle/>
                    <a:p>
                      <a:r>
                        <a:rPr lang="en-US" sz="1600"/>
                        <a:t>Disjunction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∨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OR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"x is tall OR smart"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31913"/>
                  </a:ext>
                </a:extLst>
              </a:tr>
              <a:tr h="574448">
                <a:tc>
                  <a:txBody>
                    <a:bodyPr/>
                    <a:lstStyle/>
                    <a:p>
                      <a:r>
                        <a:rPr lang="en-US" sz="1600"/>
                        <a:t>Implication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→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IF...THEN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"If x studies, then x passes"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479760"/>
                  </a:ext>
                </a:extLst>
              </a:tr>
              <a:tr h="574448">
                <a:tc>
                  <a:txBody>
                    <a:bodyPr/>
                    <a:lstStyle/>
                    <a:p>
                      <a:r>
                        <a:rPr lang="en-US" sz="1600"/>
                        <a:t>Equivalence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↔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IFF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"x is eligible IFF x is 18 or older"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64148"/>
                  </a:ext>
                </a:extLst>
              </a:tr>
              <a:tr h="328256">
                <a:tc>
                  <a:txBody>
                    <a:bodyPr/>
                    <a:lstStyle/>
                    <a:p>
                      <a:r>
                        <a:rPr lang="en-US" sz="1600"/>
                        <a:t>Universal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∀x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For all x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"All birds can fly"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605928"/>
                  </a:ext>
                </a:extLst>
              </a:tr>
              <a:tr h="820640">
                <a:tc>
                  <a:txBody>
                    <a:bodyPr/>
                    <a:lstStyle/>
                    <a:p>
                      <a:r>
                        <a:rPr lang="en-US" sz="1600"/>
                        <a:t>Existential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∃x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There exists x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"There is someone who won the prize"</a:t>
                      </a:r>
                    </a:p>
                  </a:txBody>
                  <a:tcPr marL="82096" marR="82096" marT="41048" marB="410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3084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F4CC4E-2581-90DD-C554-3BE43EBE3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14213"/>
              </p:ext>
            </p:extLst>
          </p:nvPr>
        </p:nvGraphicFramePr>
        <p:xfrm>
          <a:off x="850232" y="1876926"/>
          <a:ext cx="7836568" cy="3838074"/>
        </p:xfrm>
        <a:graphic>
          <a:graphicData uri="http://schemas.openxmlformats.org/drawingml/2006/table">
            <a:tbl>
              <a:tblPr/>
              <a:tblGrid>
                <a:gridCol w="7836568">
                  <a:extLst>
                    <a:ext uri="{9D8B030D-6E8A-4147-A177-3AD203B41FA5}">
                      <a16:colId xmlns:a16="http://schemas.microsoft.com/office/drawing/2014/main" val="3752832878"/>
                    </a:ext>
                  </a:extLst>
                </a:gridCol>
              </a:tblGrid>
              <a:tr h="38380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62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032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DA78-266A-5757-5799-81059B16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F1E3-FAF4-5A1D-B90F-AE077DB9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- Quantifiers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D7373-7DE8-0700-8D21-268BA877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676400"/>
            <a:ext cx="8915399" cy="4572000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US" sz="2200" b="0" i="0" dirty="0">
                <a:solidFill>
                  <a:srgbClr val="1C2833"/>
                </a:solidFill>
                <a:effectLst/>
              </a:rPr>
              <a:t>Quantifiers in First-order logic: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A quantifier is a language element / symbol which </a:t>
            </a:r>
            <a:r>
              <a:rPr lang="en-US" sz="2200" dirty="0"/>
              <a:t>specify the quantity (how many) of instances a statement applies to.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There are two types of quantifier: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333333"/>
                </a:solidFill>
                <a:effectLst/>
              </a:rPr>
              <a:t>Universal Quantifier, (for all, everyone, everything)</a:t>
            </a:r>
          </a:p>
          <a:p>
            <a:pPr marL="925830" lvl="2" indent="-285750" algn="just">
              <a:buFont typeface="Arial" panose="020B0604020202020204" pitchFamily="34" charset="0"/>
              <a:buChar char="•"/>
            </a:pPr>
            <a:r>
              <a:rPr lang="en-US" sz="2200" b="0" i="1" dirty="0">
                <a:solidFill>
                  <a:srgbClr val="1C2833"/>
                </a:solidFill>
                <a:effectLst/>
              </a:rPr>
              <a:t>In universal quantifier we use implication "→".</a:t>
            </a:r>
          </a:p>
          <a:p>
            <a:pPr marL="925830" lvl="2" indent="-285750">
              <a:buFont typeface="Arial" panose="020B0604020202020204" pitchFamily="34" charset="0"/>
              <a:buChar char="•"/>
            </a:pPr>
            <a:r>
              <a:rPr lang="en-US" sz="2200" dirty="0"/>
              <a:t>∀x (Human(x) → Mortal(x)) </a:t>
            </a:r>
            <a:br>
              <a:rPr lang="en-US" sz="2200" dirty="0"/>
            </a:br>
            <a:r>
              <a:rPr lang="en-US" sz="2200" dirty="0"/>
              <a:t>“All humans are mortal.”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333333"/>
                </a:solidFill>
                <a:effectLst/>
              </a:rPr>
              <a:t>Existential quantifier, (for some, at least one).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b="0" i="1" dirty="0">
                <a:solidFill>
                  <a:srgbClr val="1C2833"/>
                </a:solidFill>
                <a:effectLst/>
              </a:rPr>
              <a:t>In Existential quantifier we always use AND or Conjunction symbol (∧).</a:t>
            </a:r>
          </a:p>
          <a:p>
            <a:pPr marL="925830" lvl="2" indent="-285750">
              <a:buFont typeface="Arial" panose="020B0604020202020204" pitchFamily="34" charset="0"/>
              <a:buChar char="•"/>
            </a:pPr>
            <a:r>
              <a:rPr lang="en-US" sz="2200" dirty="0"/>
              <a:t>∃x (Student(x) ∧ Punctual(x)) </a:t>
            </a:r>
            <a:br>
              <a:rPr lang="en-US" sz="2200" dirty="0"/>
            </a:br>
            <a:r>
              <a:rPr lang="en-US" sz="2200" dirty="0"/>
              <a:t>“Some students are punctual.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48158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6655-24D2-93DC-DDEA-6DE3383E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6873A-F83C-8145-4622-5D687BAD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– Universal Quantifier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A54B92-4AC6-DBBF-2CF6-DF0B961A5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5400" y="1846263"/>
            <a:ext cx="5606079" cy="488713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FECC8A-BA0E-D44E-D197-8F98ED1B4A04}"/>
              </a:ext>
            </a:extLst>
          </p:cNvPr>
          <p:cNvSpPr txBox="1"/>
          <p:nvPr/>
        </p:nvSpPr>
        <p:spPr>
          <a:xfrm>
            <a:off x="1295400" y="2514600"/>
            <a:ext cx="4572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Let a variable x which refers to a </a:t>
            </a:r>
            <a:r>
              <a:rPr lang="en-US" sz="1400" b="1" dirty="0"/>
              <a:t>man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3237-3919-22F0-AE99-6518090E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7074-06E9-3819-5FEB-BDC78233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– Existential Quantifier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568A2-A9B6-7EEB-7AE2-CD467B2D8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1" y="1752600"/>
            <a:ext cx="5562599" cy="4695211"/>
          </a:xfrm>
        </p:spPr>
      </p:pic>
    </p:spTree>
    <p:extLst>
      <p:ext uri="{BB962C8B-B14F-4D97-AF65-F5344CB8AC3E}">
        <p14:creationId xmlns:p14="http://schemas.microsoft.com/office/powerpoint/2010/main" val="97055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B052-A346-EF91-138B-B98149CA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4B50-A079-3121-4D5E-3F7BD08C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First Order Logic -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0AC6A-2FAE-5F69-5D1B-ECA724FC1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More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“Every citizen pays taxes.” → ∀x (Citizen(x) → </a:t>
            </a:r>
            <a:r>
              <a:rPr lang="en-US" sz="2400" dirty="0" err="1"/>
              <a:t>PaysTaxes</a:t>
            </a:r>
            <a:r>
              <a:rPr lang="en-US" sz="2400" dirty="0"/>
              <a:t>(x))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“There is a person who knows AI.” → ∃x (Person(x) ∧ Knows(x, AI))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 boys like football→ ∀x (Boy(x) → Like(x, football))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Some boys like football→ ∃x (Boy(x) ∧ Like(x, football))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4221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81DF-C32F-5616-D1AE-3DD7F60C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CF51-6B5F-B309-9327-265191652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4BE2E-D041-A0A4-6A70-473D5AA33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Unification is a process of making two different logical atomic expressions identical by finding a substitution. i.e. </a:t>
            </a:r>
            <a:r>
              <a:rPr lang="en-US" sz="2400" dirty="0"/>
              <a:t>suitable substitutions for their variables.</a:t>
            </a:r>
            <a:endParaRPr lang="en-US" sz="2400" b="0" i="0" dirty="0">
              <a:solidFill>
                <a:srgbClr val="333333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It takes two literals as input and makes them identical using substitution.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0230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7BDA-2984-A5FB-CCF1-223F854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E0A4-DC82-C038-30AA-022153A3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EB327-9844-1B14-975D-640D17D25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Conditions for Unification: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Predicate symbol must be same, atoms or expression with different predicate symbol can never be unified.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Likes(John, x)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Hates(John, x)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Number of Arguments in both expressions must be identical.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Likes(John)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Likes(John, x)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Unification will fail if there are two similar variables present in the same expression.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Likes(x, x)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Likes(John, Mary)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0551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8D7D-A615-BD1A-E627-3A9BCA4B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B706-7F6E-47CC-68F9-39ED3787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CECCAA5-5170-1664-E2D5-FF4B56A6C7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920" y="1845981"/>
          <a:ext cx="7542609" cy="4023290"/>
        </p:xfrm>
        <a:graphic>
          <a:graphicData uri="http://schemas.openxmlformats.org/drawingml/2006/table">
            <a:tbl>
              <a:tblPr/>
              <a:tblGrid>
                <a:gridCol w="2514203">
                  <a:extLst>
                    <a:ext uri="{9D8B030D-6E8A-4147-A177-3AD203B41FA5}">
                      <a16:colId xmlns:a16="http://schemas.microsoft.com/office/drawing/2014/main" val="747357222"/>
                    </a:ext>
                  </a:extLst>
                </a:gridCol>
                <a:gridCol w="2514203">
                  <a:extLst>
                    <a:ext uri="{9D8B030D-6E8A-4147-A177-3AD203B41FA5}">
                      <a16:colId xmlns:a16="http://schemas.microsoft.com/office/drawing/2014/main" val="932693132"/>
                    </a:ext>
                  </a:extLst>
                </a:gridCol>
                <a:gridCol w="2514203">
                  <a:extLst>
                    <a:ext uri="{9D8B030D-6E8A-4147-A177-3AD203B41FA5}">
                      <a16:colId xmlns:a16="http://schemas.microsoft.com/office/drawing/2014/main" val="3655126072"/>
                    </a:ext>
                  </a:extLst>
                </a:gridCol>
              </a:tblGrid>
              <a:tr h="365702">
                <a:tc>
                  <a:txBody>
                    <a:bodyPr/>
                    <a:lstStyle/>
                    <a:p>
                      <a:r>
                        <a:rPr lang="en-US" sz="1800" b="1"/>
                        <a:t>Type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Notation / Format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Example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48592"/>
                  </a:ext>
                </a:extLst>
              </a:tr>
              <a:tr h="914256">
                <a:tc>
                  <a:txBody>
                    <a:bodyPr/>
                    <a:lstStyle/>
                    <a:p>
                      <a:r>
                        <a:rPr lang="en-US" sz="1800" b="1"/>
                        <a:t>Variables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Start with lowercase or uppercase letters, typically </a:t>
                      </a:r>
                      <a:r>
                        <a:rPr lang="en-US" sz="1800" b="1"/>
                        <a:t>X, Y, Z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X, Y, Z, x1, xPerson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64369"/>
                  </a:ext>
                </a:extLst>
              </a:tr>
              <a:tr h="1188532">
                <a:tc>
                  <a:txBody>
                    <a:bodyPr/>
                    <a:lstStyle/>
                    <a:p>
                      <a:r>
                        <a:rPr lang="en-US" sz="1800" b="1" dirty="0"/>
                        <a:t>Constants</a:t>
                      </a:r>
                      <a:endParaRPr lang="en-US" sz="1800" dirty="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Represent specific fixed objects, usually written as </a:t>
                      </a:r>
                      <a:r>
                        <a:rPr lang="en-US" sz="1800" b="1"/>
                        <a:t>lowercase names or symbols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b, john, cat, monday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828591"/>
                  </a:ext>
                </a:extLst>
              </a:tr>
              <a:tr h="639979">
                <a:tc>
                  <a:txBody>
                    <a:bodyPr/>
                    <a:lstStyle/>
                    <a:p>
                      <a:r>
                        <a:rPr lang="en-US" sz="1800" b="1"/>
                        <a:t>Functions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Typically lowercase and applied to arguments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f(X), g(b), fatherOf(X)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87949"/>
                  </a:ext>
                </a:extLst>
              </a:tr>
              <a:tr h="914256">
                <a:tc>
                  <a:txBody>
                    <a:bodyPr/>
                    <a:lstStyle/>
                    <a:p>
                      <a:r>
                        <a:rPr lang="en-US" sz="1800" b="1"/>
                        <a:t>Predicates</a:t>
                      </a:r>
                      <a:endParaRPr lang="en-US" sz="1800"/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Capitalized, usually name a property or relation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P(x), Loves(John, x)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189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48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CB1E-D787-E929-8B43-8257C7D2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E523-6333-340B-5AC7-396565ED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13CF2A-4634-E8E0-E8A5-99387FB8C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1879491"/>
            <a:ext cx="756649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Variables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are placeholders that can be substituted.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Examples: X, Y, Z, 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Constants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are fixed entities or symbols.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Examples: b,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5, blue, john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are built from constants/variables and return terms.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Examples: f(X), g(b), age(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3220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AE73-6D2A-33F5-169E-849C71EE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10A2-74A9-5390-8462-1DBB4547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F5385-8BB6-723E-C979-4453273B5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7800" y="1905000"/>
            <a:ext cx="409092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p(b, X, f(g(Z)))  and  p(Z, f(Y), f(Y))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E45435-28D4-171C-3EA6-F1F60272E97C}"/>
              </a:ext>
            </a:extLst>
          </p:cNvPr>
          <p:cNvGraphicFramePr>
            <a:graphicFrameLocks noGrp="1"/>
          </p:cNvGraphicFramePr>
          <p:nvPr/>
        </p:nvGraphicFramePr>
        <p:xfrm>
          <a:off x="822325" y="2394585"/>
          <a:ext cx="7543800" cy="29260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70952716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2866180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68167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20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It's a lowercase fixed 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06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X, Y, 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Uppercase letters (placeholders)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005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f(g(Z))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 f applied to result of g(Z)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612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f applied to variable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0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90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B2E9-2C91-2778-E82B-579404C0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A399-8466-EC7C-EFD9-AE7699C7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70D2-3ACE-F73F-4F59-C6642AD1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Unify: Knows(John, x) and Knows(y, z)</a:t>
            </a:r>
          </a:p>
          <a:p>
            <a:pPr marL="0" indent="0">
              <a:buNone/>
            </a:pPr>
            <a:r>
              <a:rPr lang="en-US" dirty="0"/>
              <a:t>Substitution: { y/John, z/x }</a:t>
            </a:r>
          </a:p>
          <a:p>
            <a:pPr marL="0" indent="0">
              <a:buNone/>
            </a:pPr>
            <a:r>
              <a:rPr lang="en-US" dirty="0"/>
              <a:t>Result: Both expressions become Knows(John, x)</a:t>
            </a:r>
          </a:p>
        </p:txBody>
      </p:sp>
    </p:spTree>
    <p:extLst>
      <p:ext uri="{BB962C8B-B14F-4D97-AF65-F5344CB8AC3E}">
        <p14:creationId xmlns:p14="http://schemas.microsoft.com/office/powerpoint/2010/main" val="625023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F9A7-A7DC-3199-4255-247DAF19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BFEA-91B0-170A-128A-5899C6FC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016240" cy="1450757"/>
          </a:xfrm>
        </p:spPr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0A3733-AACA-8C77-2A8D-0B7423F6E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5400" y="2057400"/>
            <a:ext cx="5784568" cy="40028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67382-B0D5-02AC-446A-D37D9C3A54E9}"/>
              </a:ext>
            </a:extLst>
          </p:cNvPr>
          <p:cNvSpPr txBox="1"/>
          <p:nvPr/>
        </p:nvSpPr>
        <p:spPr>
          <a:xfrm>
            <a:off x="1295400" y="2057400"/>
            <a:ext cx="152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073D2-7DFA-48A2-D204-DD12FA1DB804}"/>
              </a:ext>
            </a:extLst>
          </p:cNvPr>
          <p:cNvSpPr txBox="1"/>
          <p:nvPr/>
        </p:nvSpPr>
        <p:spPr>
          <a:xfrm>
            <a:off x="6248400" y="1905000"/>
            <a:ext cx="25908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term</a:t>
            </a:r>
            <a:r>
              <a:rPr lang="en-US" dirty="0">
                <a:solidFill>
                  <a:schemeClr val="accent2"/>
                </a:solidFill>
              </a:rPr>
              <a:t> / variable}</a:t>
            </a:r>
          </a:p>
          <a:p>
            <a:r>
              <a:rPr lang="en-US" dirty="0">
                <a:solidFill>
                  <a:schemeClr val="accent2"/>
                </a:solidFill>
              </a:rPr>
              <a:t>The variable (right side) is replaced.</a:t>
            </a:r>
          </a:p>
          <a:p>
            <a:r>
              <a:rPr lang="en-US" dirty="0">
                <a:solidFill>
                  <a:schemeClr val="accent2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term</a:t>
            </a:r>
            <a:r>
              <a:rPr lang="en-US" dirty="0">
                <a:solidFill>
                  <a:schemeClr val="accent2"/>
                </a:solidFill>
              </a:rPr>
              <a:t> (left side) is what replaces it</a:t>
            </a:r>
          </a:p>
        </p:txBody>
      </p:sp>
    </p:spTree>
    <p:extLst>
      <p:ext uri="{BB962C8B-B14F-4D97-AF65-F5344CB8AC3E}">
        <p14:creationId xmlns:p14="http://schemas.microsoft.com/office/powerpoint/2010/main" val="1555908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740" y="224453"/>
            <a:ext cx="8557895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</a:pPr>
            <a:r>
              <a:rPr lang="en-US" sz="3200" b="1" spc="-5" dirty="0"/>
              <a:t>Unification Algorithm in A.I</a:t>
            </a:r>
            <a:endParaRPr lang="en-US" b="1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E971B-DA94-EDFF-1C9D-AD2AF0BD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729381"/>
            <a:ext cx="436469" cy="390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C87D3-C5DA-B531-3ABA-B84CFDFB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482" y="747915"/>
            <a:ext cx="466725" cy="514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CED98D-93FD-08ED-AB7D-A63760918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465"/>
          <a:stretch/>
        </p:blipFill>
        <p:spPr>
          <a:xfrm>
            <a:off x="229792" y="915905"/>
            <a:ext cx="8838007" cy="1065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5F704B-9B38-58B7-2B51-EEB99A7C5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61" y="747915"/>
            <a:ext cx="904875" cy="276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2C1B3A-0C86-789B-A28F-CE71AFEF1A4F}"/>
              </a:ext>
            </a:extLst>
          </p:cNvPr>
          <p:cNvSpPr txBox="1"/>
          <p:nvPr/>
        </p:nvSpPr>
        <p:spPr>
          <a:xfrm>
            <a:off x="685800" y="2050353"/>
            <a:ext cx="45720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Substitute:  [f(b)/x]</a:t>
            </a:r>
          </a:p>
          <a:p>
            <a:endParaRPr lang="en-US" dirty="0"/>
          </a:p>
          <a:p>
            <a:r>
              <a:rPr lang="en-US" dirty="0"/>
              <a:t>Q(a, g(f(b), a), f(y))  </a:t>
            </a:r>
          </a:p>
          <a:p>
            <a:r>
              <a:rPr lang="en-US" dirty="0"/>
              <a:t>Q(a, g(f(b), a), f(b))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50AA69-D02D-DCE6-7876-95B0AA87DCBE}"/>
              </a:ext>
            </a:extLst>
          </p:cNvPr>
          <p:cNvSpPr txBox="1"/>
          <p:nvPr/>
        </p:nvSpPr>
        <p:spPr>
          <a:xfrm>
            <a:off x="685800" y="3429000"/>
            <a:ext cx="45720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Substitute:  [b/y]</a:t>
            </a:r>
          </a:p>
          <a:p>
            <a:endParaRPr lang="en-US" dirty="0"/>
          </a:p>
          <a:p>
            <a:r>
              <a:rPr lang="en-US" dirty="0"/>
              <a:t>Q(a, g(f(b), a), f(b))  </a:t>
            </a:r>
          </a:p>
          <a:p>
            <a:r>
              <a:rPr lang="en-US" dirty="0"/>
              <a:t>Q(a, g(f(b), a), f(b))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9933E-EB96-1919-4660-8203869E24FC}"/>
              </a:ext>
            </a:extLst>
          </p:cNvPr>
          <p:cNvSpPr txBox="1"/>
          <p:nvPr/>
        </p:nvSpPr>
        <p:spPr>
          <a:xfrm>
            <a:off x="685800" y="5040868"/>
            <a:ext cx="45720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Q(a, g(f(b), a), f(b))</a:t>
            </a:r>
          </a:p>
        </p:txBody>
      </p:sp>
    </p:spTree>
    <p:extLst>
      <p:ext uri="{BB962C8B-B14F-4D97-AF65-F5344CB8AC3E}">
        <p14:creationId xmlns:p14="http://schemas.microsoft.com/office/powerpoint/2010/main" val="2803379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164F-2C42-0C14-61C9-1B08C4F8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09999-59BA-ECD9-6AB3-EB84C6F2D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It follows a bottom-up strategy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It is the process of reaching a decision based on known facts or information, beginning with the initial state and progressing to the target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The forward-chaining method is also known as </a:t>
            </a:r>
            <a:r>
              <a:rPr lang="en-US" sz="2400" b="1" i="0" dirty="0">
                <a:effectLst/>
                <a:latin typeface="__Source_Sans_Pro_2fe30b"/>
              </a:rPr>
              <a:t>data-driven</a:t>
            </a:r>
            <a:r>
              <a:rPr lang="en-US" sz="2400" b="0" i="0" dirty="0">
                <a:effectLst/>
                <a:latin typeface="__Source_Sans_Pro_2fe30b"/>
              </a:rPr>
              <a:t> because we achieve our objective by employing available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The forward-chaining method is widely used in expert systems such as CLIPS, business rule systems, and manufacturing rule systems.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5398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56DF-0DB4-4377-81A8-078B5324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C44E-7F65-4D7A-B726-72BA7134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Forward chaining</a:t>
            </a:r>
            <a:r>
              <a:rPr lang="en-US" dirty="0"/>
              <a:t> is a </a:t>
            </a:r>
            <a:r>
              <a:rPr lang="en-US" b="1" dirty="0"/>
              <a:t>data-driven inference technique</a:t>
            </a:r>
            <a:r>
              <a:rPr lang="en-US" dirty="0"/>
              <a:t> where reasoning starts with the known facts, and uses inference rules to extract more data, moving toward a conclusion or goal.</a:t>
            </a:r>
          </a:p>
          <a:p>
            <a:r>
              <a:rPr lang="en-US" dirty="0"/>
              <a:t>It’s like </a:t>
            </a:r>
            <a:r>
              <a:rPr lang="en-US" b="1" dirty="0"/>
              <a:t>building a story from facts to conclusions</a:t>
            </a:r>
            <a:r>
              <a:rPr lang="en-US" dirty="0"/>
              <a:t>.</a:t>
            </a:r>
          </a:p>
          <a:p>
            <a:r>
              <a:rPr lang="en-US" b="1" dirty="0"/>
              <a:t>Concepts:</a:t>
            </a:r>
          </a:p>
          <a:p>
            <a:r>
              <a:rPr lang="en-US" dirty="0"/>
              <a:t>1 Start with known facts</a:t>
            </a:r>
            <a:br>
              <a:rPr lang="en-US" dirty="0"/>
            </a:br>
            <a:r>
              <a:rPr lang="en-US" dirty="0"/>
              <a:t>2 Apply rules whose conditions match those facts</a:t>
            </a:r>
            <a:br>
              <a:rPr lang="en-US" dirty="0"/>
            </a:br>
            <a:r>
              <a:rPr lang="en-US" dirty="0"/>
              <a:t>3 Derive new facts (conclusions)</a:t>
            </a:r>
            <a:br>
              <a:rPr lang="en-US" dirty="0"/>
            </a:br>
            <a:r>
              <a:rPr lang="en-US" dirty="0"/>
              <a:t>4 Repeat this process until the goal is reached, or no new facts can be inferred</a:t>
            </a:r>
          </a:p>
        </p:txBody>
      </p:sp>
    </p:spTree>
    <p:extLst>
      <p:ext uri="{BB962C8B-B14F-4D97-AF65-F5344CB8AC3E}">
        <p14:creationId xmlns:p14="http://schemas.microsoft.com/office/powerpoint/2010/main" val="99393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A608-0327-4B20-3C62-2C2439ED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9263B9-139F-5B03-EC1F-6770C69D2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743"/>
          <a:stretch/>
        </p:blipFill>
        <p:spPr>
          <a:xfrm>
            <a:off x="822325" y="2002738"/>
            <a:ext cx="7543800" cy="256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12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FB0A-B521-78AC-8B60-7D786953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E992-903D-A97A-F533-6831B589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CD95-9C71-F106-605E-1B2B2189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Let us say we have the following:</a:t>
            </a:r>
          </a:p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Fact 1: A dog is up for adoption through person A. </a:t>
            </a:r>
          </a:p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Fact 2: Person B is looking for a dog. </a:t>
            </a:r>
          </a:p>
          <a:p>
            <a:pPr algn="l">
              <a:lnSpc>
                <a:spcPts val="1950"/>
              </a:lnSpc>
              <a:spcAft>
                <a:spcPts val="1950"/>
              </a:spcAft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Inference rule: If a dog is up for adoption and someone is looking to adopt it, that person is free to adopt it.</a:t>
            </a:r>
          </a:p>
        </p:txBody>
      </p:sp>
    </p:spTree>
    <p:extLst>
      <p:ext uri="{BB962C8B-B14F-4D97-AF65-F5344CB8AC3E}">
        <p14:creationId xmlns:p14="http://schemas.microsoft.com/office/powerpoint/2010/main" val="2794219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27A7-07FC-47D4-8484-A1627360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BF28-8760-41B1-87C8-16686D9A3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Facts given:</a:t>
            </a:r>
          </a:p>
          <a:p>
            <a:r>
              <a:rPr lang="en-US" dirty="0"/>
              <a:t>-Fact 1: Patient has a high fever</a:t>
            </a:r>
          </a:p>
          <a:p>
            <a:r>
              <a:rPr lang="en-US" dirty="0"/>
              <a:t>-Fact 2: Patient has a cough</a:t>
            </a:r>
          </a:p>
          <a:p>
            <a:r>
              <a:rPr lang="en-US" dirty="0"/>
              <a:t>-Fact 3: Patient has shortness of breath</a:t>
            </a:r>
          </a:p>
          <a:p>
            <a:pPr lvl="0" fontAlgn="base"/>
            <a:r>
              <a:rPr lang="en-US" altLang="en-US" dirty="0"/>
              <a:t>Rules</a:t>
            </a:r>
          </a:p>
          <a:p>
            <a:pPr lvl="0" fontAlgn="base"/>
            <a:r>
              <a:rPr lang="en-US" altLang="en-US" dirty="0"/>
              <a:t>-Rule 1: IF patient has high fever AND cough → THEN possible flu</a:t>
            </a:r>
          </a:p>
          <a:p>
            <a:pPr lvl="0" fontAlgn="base"/>
            <a:r>
              <a:rPr lang="en-US" altLang="en-US" dirty="0"/>
              <a:t>-Rule 2: IF possible flu AND shortness of breath → THEN possible pneumonia</a:t>
            </a:r>
          </a:p>
          <a:p>
            <a:pPr lvl="0" fontAlgn="base"/>
            <a:r>
              <a:rPr lang="en-US" altLang="en-US" dirty="0"/>
              <a:t>-Rule 3: IF possible flu AND NOT shortness of breath → THEN mild flu, rest recommended</a:t>
            </a:r>
          </a:p>
          <a:p>
            <a:pPr lvl="0" fontAlgn="base"/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47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E47E-08BD-B98F-515C-87649652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1BFF-8B21-118F-8FB4-113D35ED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429D1-3564-B0E2-7B00-876727F7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It is referred to as a top-down strategy.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It acts in the reverse direction to forward chaining.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The top-down approach involves using decisions or goals to reach the facts i.e. a </a:t>
            </a:r>
            <a:r>
              <a:rPr lang="en-US" sz="2400" b="1" i="0" dirty="0">
                <a:effectLst/>
                <a:latin typeface="__Source_Sans_Pro_2fe30b"/>
              </a:rPr>
              <a:t>goal-driven</a:t>
            </a:r>
            <a:r>
              <a:rPr lang="en-US" sz="2400" b="0" i="0" dirty="0">
                <a:effectLst/>
                <a:latin typeface="__Source_Sans_Pro_2fe30b"/>
              </a:rPr>
              <a:t> approach.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a list of objectives determines which rules are chosen and used.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__Source_Sans_Pro_2fe30b"/>
              </a:rPr>
              <a:t>The backward-chaining method is used in game theory, automatic theorem-proving techniques, prove assistants and other artificial intelligence uses.</a:t>
            </a:r>
          </a:p>
        </p:txBody>
      </p:sp>
    </p:spTree>
    <p:extLst>
      <p:ext uri="{BB962C8B-B14F-4D97-AF65-F5344CB8AC3E}">
        <p14:creationId xmlns:p14="http://schemas.microsoft.com/office/powerpoint/2010/main" val="1432116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17BE-A016-47A2-BD8C-78AC930C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C9A823-1469-4F41-BC1A-B13510BA3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2041533"/>
            <a:ext cx="7578228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solidFill>
                  <a:schemeClr val="tx1"/>
                </a:solidFill>
              </a:rPr>
              <a:t>Backward chaining</a:t>
            </a:r>
            <a:r>
              <a:rPr lang="en-US" sz="1800" dirty="0">
                <a:solidFill>
                  <a:schemeClr val="tx1"/>
                </a:solidFill>
              </a:rPr>
              <a:t> is a reasoning technique in AI (especially in expert systems)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</a:rPr>
              <a:t> where the system starts with a </a:t>
            </a:r>
            <a:r>
              <a:rPr lang="en-US" sz="1800" b="1" dirty="0">
                <a:solidFill>
                  <a:schemeClr val="tx1"/>
                </a:solidFill>
              </a:rPr>
              <a:t>goal or hypothesis</a:t>
            </a:r>
            <a:r>
              <a:rPr lang="en-US" sz="1800" dirty="0">
                <a:solidFill>
                  <a:schemeClr val="tx1"/>
                </a:solidFill>
              </a:rPr>
              <a:t> and works </a:t>
            </a:r>
            <a:r>
              <a:rPr lang="en-US" sz="1800" b="1" dirty="0">
                <a:solidFill>
                  <a:schemeClr val="tx1"/>
                </a:solidFill>
              </a:rPr>
              <a:t>backward</a:t>
            </a:r>
            <a:r>
              <a:rPr lang="en-US" sz="1800" dirty="0">
                <a:solidFill>
                  <a:schemeClr val="tx1"/>
                </a:solidFill>
              </a:rPr>
              <a:t> to see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</a:rPr>
              <a:t>if facts and rules support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solidFill>
                  <a:schemeClr val="tx1"/>
                </a:solidFill>
              </a:rPr>
              <a:t>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oncepts: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Start with a goal.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Look for rules where this goal is in the THEN part.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if the IF part of those rules is satisfied by existing facts.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not, treat the unsatisfied conditions as new sub-goals.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 this until: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reach known facts (success), or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rules or facts can support the goal (failure)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71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24750-A1CD-86DC-4800-DE6E118B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AA63-C8BF-BB9F-E513-C5D4AA3D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Chaining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15D4EC-A315-C14C-828C-93F9E1476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743"/>
          <a:stretch/>
        </p:blipFill>
        <p:spPr>
          <a:xfrm>
            <a:off x="822325" y="2002738"/>
            <a:ext cx="7543800" cy="256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30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0332C-A584-6326-A6D3-0F8BF554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E602-7BF3-6872-30F3-00BD63C0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CCD6E-09CD-F5A6-4FE7-18FE15E0C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Let us take the same example.</a:t>
            </a:r>
          </a:p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Decision/Goal: Person B adopts a dog. </a:t>
            </a:r>
          </a:p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Fact 1: A dog is up for adoption from Person A.</a:t>
            </a:r>
          </a:p>
          <a:p>
            <a:pPr algn="l">
              <a:lnSpc>
                <a:spcPts val="1950"/>
              </a:lnSpc>
              <a:spcAft>
                <a:spcPts val="1950"/>
              </a:spcAft>
              <a:buNone/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Fact 2: Person B is looking for a dog. </a:t>
            </a:r>
          </a:p>
          <a:p>
            <a:pPr algn="l">
              <a:lnSpc>
                <a:spcPts val="1950"/>
              </a:lnSpc>
              <a:spcAft>
                <a:spcPts val="1950"/>
              </a:spcAft>
            </a:pPr>
            <a:r>
              <a:rPr lang="en-US" sz="20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Inference rule: If a person wants to adopt a dog, he can if there is any up for adoption. </a:t>
            </a:r>
          </a:p>
        </p:txBody>
      </p:sp>
    </p:spTree>
    <p:extLst>
      <p:ext uri="{BB962C8B-B14F-4D97-AF65-F5344CB8AC3E}">
        <p14:creationId xmlns:p14="http://schemas.microsoft.com/office/powerpoint/2010/main" val="8155183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CFD3-BF26-4623-815C-8AC368B8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05AA-4E3D-47C6-BDB4-D7759AC3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fontAlgn="base"/>
            <a:r>
              <a:rPr lang="en-US" altLang="en-US" dirty="0"/>
              <a:t>Rules</a:t>
            </a:r>
          </a:p>
          <a:p>
            <a:pPr lvl="0" fontAlgn="base"/>
            <a:r>
              <a:rPr lang="en-US" altLang="en-US" dirty="0"/>
              <a:t>-Rule 1: IF patient has high fever AND cough → THEN possible flu</a:t>
            </a:r>
          </a:p>
          <a:p>
            <a:pPr lvl="0" fontAlgn="base"/>
            <a:r>
              <a:rPr lang="en-US" altLang="en-US" dirty="0"/>
              <a:t>-Rule 2: IF possible flu AND shortness of breath → THEN possible pneumonia</a:t>
            </a:r>
          </a:p>
          <a:p>
            <a:r>
              <a:rPr lang="en-US" dirty="0"/>
              <a:t>Facts given:</a:t>
            </a:r>
          </a:p>
          <a:p>
            <a:r>
              <a:rPr lang="en-US" dirty="0"/>
              <a:t>-Fact 1: Patient has a high fever</a:t>
            </a:r>
          </a:p>
          <a:p>
            <a:r>
              <a:rPr lang="en-US" dirty="0"/>
              <a:t>-Fact 2: Patient has a cough</a:t>
            </a:r>
          </a:p>
          <a:p>
            <a:r>
              <a:rPr lang="en-US" dirty="0"/>
              <a:t>-Fact 3: Patient has shortness of breath</a:t>
            </a:r>
          </a:p>
          <a:p>
            <a:r>
              <a:rPr lang="en-US" dirty="0"/>
              <a:t>Start Node: Possible Pneumonia</a:t>
            </a:r>
          </a:p>
          <a:p>
            <a:r>
              <a:rPr lang="en-US" dirty="0"/>
              <a:t>Goal Node: All conditions are confirmed (goal achieved)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8717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812</TotalTime>
  <Words>3124</Words>
  <Application>Microsoft Office PowerPoint</Application>
  <PresentationFormat>On-screen Show (4:3)</PresentationFormat>
  <Paragraphs>451</Paragraphs>
  <Slides>47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__Source_Sans_Pro_2fe30b</vt:lpstr>
      <vt:lpstr>Arial</vt:lpstr>
      <vt:lpstr>Calibri</vt:lpstr>
      <vt:lpstr>Calibri Light</vt:lpstr>
      <vt:lpstr>Cambria Math</vt:lpstr>
      <vt:lpstr>Inter-Regular</vt:lpstr>
      <vt:lpstr>Nunito</vt:lpstr>
      <vt:lpstr>Roboto</vt:lpstr>
      <vt:lpstr>Segoe UI Symbol</vt:lpstr>
      <vt:lpstr>Times New Roman</vt:lpstr>
      <vt:lpstr>Wingdings</vt:lpstr>
      <vt:lpstr>Retrospect</vt:lpstr>
      <vt:lpstr>CS-312 Artificial Intelligence</vt:lpstr>
      <vt:lpstr>Organization of Lecture</vt:lpstr>
      <vt:lpstr>Propositional Logic</vt:lpstr>
      <vt:lpstr>Propositional Logic</vt:lpstr>
      <vt:lpstr>Propositional Logic</vt:lpstr>
      <vt:lpstr>Propositional Logic</vt:lpstr>
      <vt:lpstr>Propositional Logic</vt:lpstr>
      <vt:lpstr>Student Activities</vt:lpstr>
      <vt:lpstr>Equivalence Laws in Propositional Logic</vt:lpstr>
      <vt:lpstr>Equivalence Laws in Propositional Logic</vt:lpstr>
      <vt:lpstr>Equivalence Laws in Propositional Logic</vt:lpstr>
      <vt:lpstr>Equivalence Laws in Propositional Logic</vt:lpstr>
      <vt:lpstr>Equivalence Laws in Propositional Logic</vt:lpstr>
      <vt:lpstr>Equivalence Laws in Propositional Logic</vt:lpstr>
      <vt:lpstr>Equivalence Laws in Propositional Logic</vt:lpstr>
      <vt:lpstr>Equivalence Laws in Propositional Logic</vt:lpstr>
      <vt:lpstr>Inference Rules</vt:lpstr>
      <vt:lpstr>Inference Rules</vt:lpstr>
      <vt:lpstr>Propositional Logic - Limitations</vt:lpstr>
      <vt:lpstr>Propositional Logic - Limitations</vt:lpstr>
      <vt:lpstr>First Order Logic</vt:lpstr>
      <vt:lpstr>First Order Logic</vt:lpstr>
      <vt:lpstr>First Order Logic</vt:lpstr>
      <vt:lpstr>First Order Logic - Laws</vt:lpstr>
      <vt:lpstr>First Order Logic – Laws with examples</vt:lpstr>
      <vt:lpstr>First Order Logic - Quantifiers</vt:lpstr>
      <vt:lpstr>First Order Logic – Universal Quantifier</vt:lpstr>
      <vt:lpstr>First Order Logic – Existential Quantifier</vt:lpstr>
      <vt:lpstr>First Order Logic - Limitations</vt:lpstr>
      <vt:lpstr>Unification</vt:lpstr>
      <vt:lpstr>Unification</vt:lpstr>
      <vt:lpstr>Unification</vt:lpstr>
      <vt:lpstr>Unification</vt:lpstr>
      <vt:lpstr>Unification</vt:lpstr>
      <vt:lpstr>Unification</vt:lpstr>
      <vt:lpstr>Unification</vt:lpstr>
      <vt:lpstr>Unification Algorithm in A.I</vt:lpstr>
      <vt:lpstr>Forward Chaining</vt:lpstr>
      <vt:lpstr>Forward Chaining</vt:lpstr>
      <vt:lpstr>Forward Chaining</vt:lpstr>
      <vt:lpstr>Forward Chaining</vt:lpstr>
      <vt:lpstr>Example</vt:lpstr>
      <vt:lpstr>Backward Chaining</vt:lpstr>
      <vt:lpstr>Backward Chaining</vt:lpstr>
      <vt:lpstr>Backward Chaining</vt:lpstr>
      <vt:lpstr>Backward Chaining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Power in AC Circuits</dc:title>
  <dc:creator>DeVRY</dc:creator>
  <cp:lastModifiedBy>Sajid Saeed</cp:lastModifiedBy>
  <cp:revision>110</cp:revision>
  <dcterms:created xsi:type="dcterms:W3CDTF">2023-05-10T04:59:07Z</dcterms:created>
  <dcterms:modified xsi:type="dcterms:W3CDTF">2025-12-08T20:59:26Z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2023-05-09T00:00:00Z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2023-05-10T00:00:00Z</vt:filetime>
  </property>
</Properties>
</file>